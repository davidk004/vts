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2" r:id="rId8"/>
    <p:sldId id="266" r:id="rId9"/>
    <p:sldId id="263" r:id="rId10"/>
    <p:sldId id="264" r:id="rId11"/>
    <p:sldId id="267" r:id="rId12"/>
    <p:sldId id="26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388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98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196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962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57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043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64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4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641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8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417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5243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0530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6348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2838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1238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9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7791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7" Type="http://schemas.openxmlformats.org/officeDocument/2006/relationships/slide" Target="slide1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4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cubes.edu.rs/programiranje/agilna-metodologija-u-razvoju-softvera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A4E861-5EDA-9A00-BD90-1EED6723A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073" y="2766218"/>
            <a:ext cx="11067854" cy="1325563"/>
          </a:xfrm>
        </p:spPr>
        <p:txBody>
          <a:bodyPr/>
          <a:lstStyle/>
          <a:p>
            <a:pPr algn="just"/>
            <a:r>
              <a:rPr lang="sr-Latn-RS" dirty="0"/>
              <a:t>Razvoj softvera kroz prizmu agilnih metodologija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78886C-BE29-D2BA-2216-BB5513BDE730}"/>
              </a:ext>
            </a:extLst>
          </p:cNvPr>
          <p:cNvSpPr txBox="1"/>
          <p:nvPr/>
        </p:nvSpPr>
        <p:spPr>
          <a:xfrm>
            <a:off x="5117206" y="6229208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dirty="0"/>
              <a:t>Daniel Štifelmajer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5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D4931C0-779E-E370-CFD5-B95FEBE6B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sr-Latn-RS" dirty="0"/>
              <a:t>Sadržaj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F1CD6-8336-63DF-3DBB-255DAD112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sr-Latn-RS" dirty="0">
                <a:hlinkClick r:id="rId2" action="ppaction://hlinksldjump"/>
              </a:rPr>
              <a:t>Šta je agilna metodologija.</a:t>
            </a:r>
            <a:endParaRPr lang="sr-Latn-RS" dirty="0"/>
          </a:p>
          <a:p>
            <a:pPr algn="just"/>
            <a:r>
              <a:rPr lang="sr-Latn-RS" dirty="0">
                <a:hlinkClick r:id="rId3" action="ppaction://hlinksldjump"/>
              </a:rPr>
              <a:t>Najpoznatije metode.</a:t>
            </a:r>
            <a:endParaRPr lang="sr-Latn-RS" dirty="0"/>
          </a:p>
          <a:p>
            <a:pPr algn="just"/>
            <a:r>
              <a:rPr lang="sr-Latn-RS" dirty="0">
                <a:hlinkClick r:id="rId4" action="ppaction://hlinksldjump"/>
              </a:rPr>
              <a:t>Osnovni principi.</a:t>
            </a:r>
            <a:endParaRPr lang="sr-Latn-RS" dirty="0"/>
          </a:p>
          <a:p>
            <a:pPr algn="just"/>
            <a:r>
              <a:rPr lang="sr-Latn-RS" dirty="0">
                <a:hlinkClick r:id="rId5" action="ppaction://hlinksldjump"/>
              </a:rPr>
              <a:t>Prednosti.</a:t>
            </a:r>
            <a:endParaRPr lang="sr-Latn-RS" dirty="0"/>
          </a:p>
          <a:p>
            <a:pPr algn="just"/>
            <a:r>
              <a:rPr lang="sr-Latn-RS" dirty="0">
                <a:hlinkClick r:id="rId6" action="ppaction://hlinksldjump"/>
              </a:rPr>
              <a:t>Mane.</a:t>
            </a:r>
            <a:endParaRPr lang="sr-Latn-RS" dirty="0"/>
          </a:p>
          <a:p>
            <a:pPr algn="just"/>
            <a:r>
              <a:rPr lang="sr-Latn-RS" dirty="0">
                <a:hlinkClick r:id="rId7" action="ppaction://hlinksldjump"/>
              </a:rPr>
              <a:t>Literatura.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310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84AFE-9EBE-7FF5-8692-935EB15F0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sr-Latn-RS" dirty="0"/>
              <a:t>Šta je agilna metodologija	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CD376-0191-444A-28DB-760796022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Agilna</a:t>
            </a:r>
            <a:r>
              <a:rPr lang="en-US" dirty="0"/>
              <a:t> </a:t>
            </a:r>
            <a:r>
              <a:rPr lang="en-US" dirty="0" err="1"/>
              <a:t>metodologija</a:t>
            </a:r>
            <a:r>
              <a:rPr lang="en-US" dirty="0"/>
              <a:t> je </a:t>
            </a:r>
            <a:r>
              <a:rPr lang="en-US" dirty="0" err="1"/>
              <a:t>način</a:t>
            </a:r>
            <a:r>
              <a:rPr lang="en-US" dirty="0"/>
              <a:t> rada koji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timovima</a:t>
            </a:r>
            <a:r>
              <a:rPr lang="en-US" dirty="0"/>
              <a:t> da </a:t>
            </a:r>
            <a:r>
              <a:rPr lang="en-US" dirty="0" err="1"/>
              <a:t>razvijaju</a:t>
            </a:r>
            <a:r>
              <a:rPr lang="en-US" dirty="0"/>
              <a:t> </a:t>
            </a:r>
            <a:r>
              <a:rPr lang="en-US" dirty="0" err="1"/>
              <a:t>softver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postepene</a:t>
            </a:r>
            <a:r>
              <a:rPr lang="en-US" dirty="0"/>
              <a:t> </a:t>
            </a:r>
            <a:r>
              <a:rPr lang="en-US" dirty="0" err="1"/>
              <a:t>isporuke</a:t>
            </a:r>
            <a:r>
              <a:rPr lang="en-US" dirty="0"/>
              <a:t>, </a:t>
            </a:r>
            <a:r>
              <a:rPr lang="en-US" dirty="0" err="1"/>
              <a:t>redovno</a:t>
            </a:r>
            <a:r>
              <a:rPr lang="en-US" dirty="0"/>
              <a:t> </a:t>
            </a:r>
            <a:r>
              <a:rPr lang="en-US" dirty="0" err="1"/>
              <a:t>testiranje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prilagođavanje</a:t>
            </a:r>
            <a:r>
              <a:rPr lang="en-US" dirty="0"/>
              <a:t> </a:t>
            </a:r>
            <a:r>
              <a:rPr lang="en-US" dirty="0" err="1"/>
              <a:t>promenama</a:t>
            </a:r>
            <a:r>
              <a:rPr lang="en-US" dirty="0"/>
              <a:t>.</a:t>
            </a:r>
            <a:endParaRPr lang="sr-Latn-RS" dirty="0"/>
          </a:p>
          <a:p>
            <a:r>
              <a:rPr lang="pl-PL" dirty="0">
                <a:effectLst/>
              </a:rPr>
              <a:t>Sa agilnim pristupom, aplikacija bi se pravila korak po korak.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082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A84D62-6C36-9C08-9186-8CCC1CF16F69}"/>
              </a:ext>
            </a:extLst>
          </p:cNvPr>
          <p:cNvSpPr txBox="1"/>
          <p:nvPr/>
        </p:nvSpPr>
        <p:spPr>
          <a:xfrm>
            <a:off x="4455213" y="5864087"/>
            <a:ext cx="3281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RS" sz="1600" i="1" dirty="0"/>
              <a:t>Slika br. 1 proces agilne metodologije.</a:t>
            </a:r>
            <a:endParaRPr lang="en-US" sz="1600" i="1" dirty="0"/>
          </a:p>
        </p:txBody>
      </p:sp>
      <p:pic>
        <p:nvPicPr>
          <p:cNvPr id="5122" name="Picture 2" descr="Agile Methodology in UX | Aguayo's Blog">
            <a:extLst>
              <a:ext uri="{FF2B5EF4-FFF2-40B4-BE49-F238E27FC236}">
                <a16:creationId xmlns:a16="http://schemas.microsoft.com/office/drawing/2014/main" id="{4F434E54-DFA3-EBFD-CBFD-232560EA0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4306" y="655359"/>
            <a:ext cx="6863384" cy="5038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3775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0740E-4D2C-D936-6F81-122119E9A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E2F83-C8C5-EDE4-777B-5D71C92A7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sr-Latn-RS" dirty="0"/>
              <a:t>Metode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06BBC-9239-08EE-A02B-8ECFD2637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Scrum.</a:t>
            </a:r>
          </a:p>
          <a:p>
            <a:r>
              <a:rPr lang="sr-Latn-RS" dirty="0"/>
              <a:t>Ekstremno programiranje (XP).</a:t>
            </a:r>
          </a:p>
          <a:p>
            <a:r>
              <a:rPr lang="sr-Latn-RS" dirty="0"/>
              <a:t>Kanban.</a:t>
            </a:r>
          </a:p>
          <a:p>
            <a:r>
              <a:rPr lang="sr-Latn-RS" dirty="0"/>
              <a:t>Lean razvoj softvera.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798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6ECC0-9A13-C2A0-1809-49EC6379C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60133C-AE0C-9F92-5130-B7E745DA1268}"/>
              </a:ext>
            </a:extLst>
          </p:cNvPr>
          <p:cNvSpPr txBox="1"/>
          <p:nvPr/>
        </p:nvSpPr>
        <p:spPr>
          <a:xfrm>
            <a:off x="4455212" y="5466522"/>
            <a:ext cx="3281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RS" sz="1600" i="1" dirty="0"/>
              <a:t>Slika br. 2 tipovi agilne metodologije.</a:t>
            </a:r>
            <a:endParaRPr lang="en-US" sz="1600" i="1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626FB92-041C-2359-E33D-D6F1EC35B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8" y="1666875"/>
            <a:ext cx="7620000" cy="3524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9701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49C11-A291-42E9-0FA5-281A7728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49C61-D7CD-3938-42A9-F735C5048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sr-Latn-RS" dirty="0"/>
              <a:t>Principi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775B9-2ABF-D2B2-CFCC-4CABEBB2F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effectLst/>
              </a:rPr>
              <a:t>Iterativni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razvoj</a:t>
            </a:r>
            <a:r>
              <a:rPr lang="sr-Latn-RS" dirty="0"/>
              <a:t>.</a:t>
            </a:r>
          </a:p>
          <a:p>
            <a:r>
              <a:rPr lang="en-US" dirty="0" err="1">
                <a:effectLst/>
              </a:rPr>
              <a:t>Stalna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komunikacija</a:t>
            </a:r>
            <a:r>
              <a:rPr lang="sr-Latn-RS" dirty="0"/>
              <a:t>.</a:t>
            </a:r>
          </a:p>
          <a:p>
            <a:r>
              <a:rPr lang="en-US" dirty="0" err="1">
                <a:effectLst/>
              </a:rPr>
              <a:t>Testiranje</a:t>
            </a:r>
            <a:r>
              <a:rPr lang="en-US" dirty="0">
                <a:effectLst/>
              </a:rPr>
              <a:t> u </a:t>
            </a:r>
            <a:r>
              <a:rPr lang="en-US" dirty="0" err="1">
                <a:effectLst/>
              </a:rPr>
              <a:t>svakoj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fazi</a:t>
            </a:r>
            <a:r>
              <a:rPr lang="sr-Latn-RS" dirty="0"/>
              <a:t>.</a:t>
            </a:r>
          </a:p>
          <a:p>
            <a:r>
              <a:rPr lang="en-US" dirty="0" err="1">
                <a:effectLst/>
              </a:rPr>
              <a:t>Fleksibilnost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prilagođavanje</a:t>
            </a:r>
            <a:r>
              <a:rPr lang="sr-Latn-RS" dirty="0"/>
              <a:t>.</a:t>
            </a:r>
          </a:p>
          <a:p>
            <a:r>
              <a:rPr lang="en-US" dirty="0" err="1">
                <a:effectLst/>
              </a:rPr>
              <a:t>Bliska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saradnja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klijentima</a:t>
            </a:r>
            <a:r>
              <a:rPr lang="sr-Latn-RS" dirty="0">
                <a:effectLst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631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58CC7-DC74-FCED-2C66-AC9BE93A2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5D0B9A-7C8B-C7AE-8618-B6928E10D73B}"/>
              </a:ext>
            </a:extLst>
          </p:cNvPr>
          <p:cNvSpPr txBox="1"/>
          <p:nvPr/>
        </p:nvSpPr>
        <p:spPr>
          <a:xfrm>
            <a:off x="4492068" y="6102626"/>
            <a:ext cx="32078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RS" sz="1600" i="1" dirty="0"/>
              <a:t>Slika br. 3 principi agilne metodologije.</a:t>
            </a:r>
            <a:endParaRPr lang="en-US" sz="1600" i="1" dirty="0"/>
          </a:p>
        </p:txBody>
      </p:sp>
      <p:pic>
        <p:nvPicPr>
          <p:cNvPr id="2054" name="Picture 6" descr="Agile Principles: Complete Guide to the 12 Agile Manifesto Principles">
            <a:extLst>
              <a:ext uri="{FF2B5EF4-FFF2-40B4-BE49-F238E27FC236}">
                <a16:creationId xmlns:a16="http://schemas.microsoft.com/office/drawing/2014/main" id="{3550CBB3-150D-ECC0-E0B7-73D51BF0C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116" y="845840"/>
            <a:ext cx="5211763" cy="5166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5565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7317F-3CA7-88F4-5C0E-7EAE5D1BA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8A5D0-25B8-555A-C5FB-2F6B38E7E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sr-Latn-RS" dirty="0"/>
              <a:t>Prednosti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21BB9-6819-23C0-7C87-A7AF22922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effectLst/>
              </a:rPr>
              <a:t>Brže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prilagođavanje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promenama</a:t>
            </a:r>
            <a:r>
              <a:rPr lang="sr-Latn-RS" dirty="0">
                <a:effectLst/>
              </a:rPr>
              <a:t>.</a:t>
            </a:r>
          </a:p>
          <a:p>
            <a:r>
              <a:rPr lang="en-US" dirty="0" err="1">
                <a:effectLst/>
              </a:rPr>
              <a:t>Veća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efikasnost</a:t>
            </a:r>
            <a:r>
              <a:rPr lang="sr-Latn-RS" dirty="0">
                <a:effectLst/>
              </a:rPr>
              <a:t>.</a:t>
            </a:r>
          </a:p>
          <a:p>
            <a:r>
              <a:rPr lang="en-US" dirty="0" err="1">
                <a:effectLst/>
              </a:rPr>
              <a:t>Bolja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komunikacija</a:t>
            </a:r>
            <a:r>
              <a:rPr lang="en-US" dirty="0">
                <a:effectLst/>
              </a:rPr>
              <a:t> u </a:t>
            </a:r>
            <a:r>
              <a:rPr lang="en-US" dirty="0" err="1">
                <a:effectLst/>
              </a:rPr>
              <a:t>timu</a:t>
            </a:r>
            <a:r>
              <a:rPr lang="sr-Latn-RS" dirty="0">
                <a:effectLst/>
              </a:rPr>
              <a:t>.</a:t>
            </a:r>
          </a:p>
          <a:p>
            <a:r>
              <a:rPr lang="en-US" dirty="0" err="1">
                <a:effectLst/>
              </a:rPr>
              <a:t>Zadovoljniji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korisnici</a:t>
            </a:r>
            <a:r>
              <a:rPr lang="sr-Latn-R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Manje </a:t>
            </a:r>
            <a:r>
              <a:rPr lang="en-US" dirty="0" err="1">
                <a:effectLst/>
              </a:rPr>
              <a:t>grešaka</a:t>
            </a:r>
            <a:r>
              <a:rPr lang="sr-Latn-RS" dirty="0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2204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6DC31-A4A0-7E40-B086-5B1F6C084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3EDE8-9C01-0BB5-1554-59607F726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sr-Latn-RS" dirty="0"/>
              <a:t>Mane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74E99-4465-8617-504D-2DC677DF0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>
                <a:effectLst/>
              </a:rPr>
              <a:t>Teško podnošenje promena.</a:t>
            </a:r>
          </a:p>
          <a:p>
            <a:r>
              <a:rPr lang="sr-Latn-RS" dirty="0">
                <a:effectLst/>
              </a:rPr>
              <a:t>Loše odluke i lažne pretpostavke.</a:t>
            </a:r>
          </a:p>
          <a:p>
            <a:r>
              <a:rPr lang="sr-Latn-RS" dirty="0">
                <a:effectLst/>
              </a:rPr>
              <a:t>Troše vreme.</a:t>
            </a:r>
          </a:p>
          <a:p>
            <a:r>
              <a:rPr lang="sr-Latn-RS" dirty="0">
                <a:effectLst/>
              </a:rPr>
              <a:t>Loša komunikacija sa kupcima.</a:t>
            </a:r>
          </a:p>
        </p:txBody>
      </p:sp>
    </p:spTree>
    <p:extLst>
      <p:ext uri="{BB962C8B-B14F-4D97-AF65-F5344CB8AC3E}">
        <p14:creationId xmlns:p14="http://schemas.microsoft.com/office/powerpoint/2010/main" val="1760762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8BC69-DF94-59F3-141F-B75ECEBD5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74C3DB-F656-06CE-58F4-E17699B3FD94}"/>
              </a:ext>
            </a:extLst>
          </p:cNvPr>
          <p:cNvSpPr txBox="1"/>
          <p:nvPr/>
        </p:nvSpPr>
        <p:spPr>
          <a:xfrm>
            <a:off x="4098021" y="6074670"/>
            <a:ext cx="39959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RS" sz="1600" i="1" dirty="0"/>
              <a:t>Slika br. 4 prednosti i mane agilne metodologije.</a:t>
            </a:r>
            <a:endParaRPr lang="en-US" sz="1600" i="1" dirty="0"/>
          </a:p>
        </p:txBody>
      </p:sp>
      <p:pic>
        <p:nvPicPr>
          <p:cNvPr id="4102" name="Picture 6" descr="Driving Innovation: The Fusion of Agile and IT Service Management">
            <a:extLst>
              <a:ext uri="{FF2B5EF4-FFF2-40B4-BE49-F238E27FC236}">
                <a16:creationId xmlns:a16="http://schemas.microsoft.com/office/drawing/2014/main" id="{80D4D987-3ABC-FCF1-5BB0-B7E2610D6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6" y="416820"/>
            <a:ext cx="7620000" cy="56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928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BF179-EE09-EB3A-E2BF-BA0ECCBD4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8E4561-1C55-7631-FC03-172529112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sr-Latn-RS" dirty="0"/>
              <a:t>Literatura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2523B-F206-4EF6-2AC6-CDE0EECAF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hlinkClick r:id="rId2"/>
              </a:rPr>
              <a:t>https://cubes.edu.rs/programiranje/</a:t>
            </a:r>
            <a:r>
              <a:rPr lang="en-US">
                <a:hlinkClick r:id="rId2"/>
              </a:rPr>
              <a:t>agilna-metodologija-u-razvoju-softvera/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1340252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38</TotalTime>
  <Words>184</Words>
  <Application>Microsoft Office PowerPoint</Application>
  <PresentationFormat>Widescreen</PresentationFormat>
  <Paragraphs>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Calisto MT</vt:lpstr>
      <vt:lpstr>Wingdings 2</vt:lpstr>
      <vt:lpstr>Slate</vt:lpstr>
      <vt:lpstr>Razvoj softvera kroz prizmu agilnih metodologija</vt:lpstr>
      <vt:lpstr>Sadržaj</vt:lpstr>
      <vt:lpstr>Šta je agilna metodologija </vt:lpstr>
      <vt:lpstr>PowerPoint Presentation</vt:lpstr>
      <vt:lpstr>Metode</vt:lpstr>
      <vt:lpstr>PowerPoint Presentation</vt:lpstr>
      <vt:lpstr>Principi</vt:lpstr>
      <vt:lpstr>PowerPoint Presentation</vt:lpstr>
      <vt:lpstr>Prednosti</vt:lpstr>
      <vt:lpstr>Mane</vt:lpstr>
      <vt:lpstr>PowerPoint Presentation</vt:lpstr>
      <vt:lpstr>Literatura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danielstifelmajer@gmail.com</dc:creator>
  <cp:lastModifiedBy>danielstifelmajer@gmail.com</cp:lastModifiedBy>
  <cp:revision>13</cp:revision>
  <dcterms:created xsi:type="dcterms:W3CDTF">2025-11-26T18:09:17Z</dcterms:created>
  <dcterms:modified xsi:type="dcterms:W3CDTF">2025-11-27T09:14:58Z</dcterms:modified>
</cp:coreProperties>
</file>