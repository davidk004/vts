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14.jpeg" ContentType="image/jpeg"/>
  <Override PartName="/ppt/media/image9.jpeg" ContentType="image/jpeg"/>
  <Override PartName="/ppt/media/image12.png" ContentType="image/png"/>
  <Override PartName="/ppt/media/image3.png" ContentType="image/png"/>
  <Override PartName="/ppt/media/image1.jpeg" ContentType="image/jpeg"/>
  <Override PartName="/ppt/media/image10.png" ContentType="image/png"/>
  <Override PartName="/ppt/media/image6.png" ContentType="image/png"/>
  <Override PartName="/ppt/media/image15.png" ContentType="image/png"/>
  <Override PartName="/ppt/media/image2.jpeg" ContentType="image/jpeg"/>
  <Override PartName="/ppt/media/image4.jpeg" ContentType="image/jpeg"/>
  <Override PartName="/ppt/media/image5.png" ContentType="image/png"/>
  <Override PartName="/ppt/media/image7.png" ContentType="image/png"/>
  <Override PartName="/ppt/media/image11.png" ContentType="image/png"/>
  <Override PartName="/ppt/media/image8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dt" idx="4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ftr" idx="4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sldNum" idx="4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486355C-D2D0-4161-807C-9B28CB9644E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E75B75-169F-4BF6-89DB-1077C3F3B0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543470-996A-4EB2-85F8-42B49DDE65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  <a:lvl4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4pPr>
            <a:lvl5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7D64A8-9A2C-418C-A886-AE59046721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6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7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8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9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0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4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4572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marL="9144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marL="13716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marL="18288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marL="2286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marL="27432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7855D5-60CA-4D6C-8FB0-3C944B1A0A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8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9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0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1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3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4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5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6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6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F7E3F3-2302-46EC-A824-2D12D7D8E0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3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4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5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6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7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8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9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0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1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  <a:lvl4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4pPr>
            <a:lvl5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1FEAC8-E244-483D-AF36-B2E69ABACA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8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9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0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1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2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3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4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5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6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4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58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  <a:lvl4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4pPr>
            <a:lvl5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876DFF-4A04-49EF-B033-B00E531E9B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3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4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5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6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7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8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9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0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1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  <a:lvl4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4pPr>
            <a:lvl5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D8A01B-D0B6-46C1-85EB-883D035780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8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9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0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1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2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3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4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6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244074-C706-4638-8869-B8AD091155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3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4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5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6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7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8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9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0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1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  <a:lvl4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4pPr>
            <a:lvl5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  <a:lvl4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4pPr>
            <a:lvl5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A63EE8-D1B0-43C9-B54A-D90A5E1DC8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9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0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1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2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3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4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5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6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7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32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32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  <a:lvl4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4pPr>
            <a:lvl5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48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48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  <a:lvl4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4pPr>
            <a:lvl5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8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04F14-F632-4CA8-BAFE-1B46F7EC66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058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7" name="Shape 1059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" name="Shape 1060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9" name="Shape 1061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0" name="Shape 1062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1" name="Shape 1063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2" name="Shape 1064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3" name="Shape 1065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4" name="Shape 1066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5" name="Shape 1067"/>
          <p:cNvSpPr/>
          <p:nvPr/>
        </p:nvSpPr>
        <p:spPr>
          <a:xfrm>
            <a:off x="0" y="0"/>
            <a:ext cx="12191400" cy="683820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38200"/>
              <a:gd name="textAreaBottom" fmla="*/ 6838920 h 6838200"/>
            </a:gdLst>
            <a:ahLst/>
            <a:cxnLst/>
            <a:rect l="textAreaLeft" t="textAreaTop" r="textAreaRight" b="textAreaBottom"/>
            <a:pathLst>
              <a:path fill="none" w="43200" h="4320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916EF1-B628-4554-915C-A7DFEB20E1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"/>
          <p:cNvGrpSpPr/>
          <p:nvPr/>
        </p:nvGrpSpPr>
        <p:grpSpPr>
          <a:xfrm>
            <a:off x="0" y="0"/>
            <a:ext cx="12192480" cy="4976640"/>
            <a:chOff x="0" y="0"/>
            <a:chExt cx="12192480" cy="4976640"/>
          </a:xfrm>
        </p:grpSpPr>
        <p:sp>
          <p:nvSpPr>
            <p:cNvPr id="171" name=""/>
            <p:cNvSpPr/>
            <p:nvPr/>
          </p:nvSpPr>
          <p:spPr>
            <a:xfrm>
              <a:off x="0" y="0"/>
              <a:ext cx="12192480" cy="49766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0" y="0"/>
              <a:ext cx="12192480" cy="49766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0" y="1548360"/>
              <a:ext cx="1879920" cy="77400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1105920" y="2322720"/>
              <a:ext cx="1548000" cy="2211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2654280" y="663480"/>
              <a:ext cx="1548000" cy="2211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4202640" y="1437840"/>
              <a:ext cx="442080" cy="442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5087520" y="0"/>
              <a:ext cx="1769400" cy="110556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5640480" y="1105920"/>
              <a:ext cx="1216440" cy="5526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4202640" y="2101320"/>
              <a:ext cx="3760200" cy="1216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4977000" y="3318120"/>
              <a:ext cx="1769400" cy="1216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7963200" y="1769760"/>
              <a:ext cx="1879920" cy="5526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8848080" y="2322720"/>
              <a:ext cx="1769040" cy="199044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3318120" y="2875680"/>
              <a:ext cx="663120" cy="9950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10396440" y="0"/>
              <a:ext cx="1796040" cy="176940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8184240" y="0"/>
              <a:ext cx="331560" cy="12160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1880280" y="0"/>
              <a:ext cx="220680" cy="110556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0" y="3649680"/>
              <a:ext cx="442080" cy="1326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11612880" y="3096720"/>
              <a:ext cx="442080" cy="18799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10617480" y="2211840"/>
              <a:ext cx="442080" cy="442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90" name=""/>
          <p:cNvSpPr/>
          <p:nvPr/>
        </p:nvSpPr>
        <p:spPr>
          <a:xfrm>
            <a:off x="9144000" y="5225040"/>
            <a:ext cx="360" cy="152388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>
              <a:buNone/>
              <a:defRPr lang="en-US" sz="45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45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56592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623340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ftr" idx="34"/>
          </p:nvPr>
        </p:nvSpPr>
        <p:spPr>
          <a:xfrm>
            <a:off x="9361800" y="531216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sldNum" idx="35"/>
          </p:nvPr>
        </p:nvSpPr>
        <p:spPr>
          <a:xfrm>
            <a:off x="9361800" y="624816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1AA5F2-4D0A-4631-A736-0068DB939C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6"/>
          <p:cNvSpPr>
            <a:spLocks noGrp="1"/>
          </p:cNvSpPr>
          <p:nvPr>
            <p:ph type="dt" idx="36"/>
          </p:nvPr>
        </p:nvSpPr>
        <p:spPr>
          <a:xfrm>
            <a:off x="9361800" y="587808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"/>
          <p:cNvGrpSpPr/>
          <p:nvPr/>
        </p:nvGrpSpPr>
        <p:grpSpPr>
          <a:xfrm>
            <a:off x="0" y="0"/>
            <a:ext cx="12192480" cy="4976640"/>
            <a:chOff x="0" y="0"/>
            <a:chExt cx="12192480" cy="4976640"/>
          </a:xfrm>
        </p:grpSpPr>
        <p:sp>
          <p:nvSpPr>
            <p:cNvPr id="198" name=""/>
            <p:cNvSpPr/>
            <p:nvPr/>
          </p:nvSpPr>
          <p:spPr>
            <a:xfrm>
              <a:off x="0" y="0"/>
              <a:ext cx="12192480" cy="49766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0" y="0"/>
              <a:ext cx="12192480" cy="49766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0" name=""/>
            <p:cNvSpPr/>
            <p:nvPr/>
          </p:nvSpPr>
          <p:spPr>
            <a:xfrm>
              <a:off x="0" y="1548360"/>
              <a:ext cx="1879920" cy="77400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1105920" y="2322720"/>
              <a:ext cx="1548000" cy="2211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2654280" y="663480"/>
              <a:ext cx="1548000" cy="2211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4202640" y="1437840"/>
              <a:ext cx="442080" cy="442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5087520" y="0"/>
              <a:ext cx="1769400" cy="110556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5" name=""/>
            <p:cNvSpPr/>
            <p:nvPr/>
          </p:nvSpPr>
          <p:spPr>
            <a:xfrm>
              <a:off x="5640480" y="1105920"/>
              <a:ext cx="1216440" cy="5526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6" name=""/>
            <p:cNvSpPr/>
            <p:nvPr/>
          </p:nvSpPr>
          <p:spPr>
            <a:xfrm>
              <a:off x="4202640" y="2101320"/>
              <a:ext cx="3760200" cy="1216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4977000" y="3318120"/>
              <a:ext cx="1769400" cy="1216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7963200" y="1769760"/>
              <a:ext cx="1879920" cy="5526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8848080" y="2322720"/>
              <a:ext cx="1769040" cy="199044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3318120" y="2875680"/>
              <a:ext cx="663120" cy="9950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10396440" y="0"/>
              <a:ext cx="1796040" cy="176940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8184240" y="0"/>
              <a:ext cx="331560" cy="12160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1880280" y="0"/>
              <a:ext cx="220680" cy="110556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0" y="3649680"/>
              <a:ext cx="442080" cy="1326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11612880" y="3096720"/>
              <a:ext cx="442080" cy="18799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10617480" y="2211840"/>
              <a:ext cx="442080" cy="442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31" name=""/>
          <p:cNvSpPr/>
          <p:nvPr/>
        </p:nvSpPr>
        <p:spPr>
          <a:xfrm>
            <a:off x="9144000" y="5225040"/>
            <a:ext cx="360" cy="152388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>
              <a:buNone/>
              <a:defRPr lang="en-US" sz="45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45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ftr" idx="43"/>
          </p:nvPr>
        </p:nvSpPr>
        <p:spPr>
          <a:xfrm>
            <a:off x="9361800" y="531216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4"/>
          </p:nvPr>
        </p:nvSpPr>
        <p:spPr>
          <a:xfrm>
            <a:off x="9361800" y="624816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FC9991-A1A5-4A1A-B896-89AD1CA9D0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dt" idx="45"/>
          </p:nvPr>
        </p:nvSpPr>
        <p:spPr>
          <a:xfrm>
            <a:off x="9361800" y="587808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"/>
          <p:cNvGrpSpPr/>
          <p:nvPr/>
        </p:nvGrpSpPr>
        <p:grpSpPr>
          <a:xfrm>
            <a:off x="0" y="0"/>
            <a:ext cx="12192480" cy="4976640"/>
            <a:chOff x="0" y="0"/>
            <a:chExt cx="12192480" cy="4976640"/>
          </a:xfrm>
        </p:grpSpPr>
        <p:sp>
          <p:nvSpPr>
            <p:cNvPr id="198" name=""/>
            <p:cNvSpPr/>
            <p:nvPr/>
          </p:nvSpPr>
          <p:spPr>
            <a:xfrm>
              <a:off x="0" y="0"/>
              <a:ext cx="12192480" cy="49766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0" y="0"/>
              <a:ext cx="12192480" cy="49766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0" name=""/>
            <p:cNvSpPr/>
            <p:nvPr/>
          </p:nvSpPr>
          <p:spPr>
            <a:xfrm>
              <a:off x="0" y="1548360"/>
              <a:ext cx="1879920" cy="77400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1105920" y="2322720"/>
              <a:ext cx="1548000" cy="2211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2654280" y="663480"/>
              <a:ext cx="1548000" cy="2211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4202640" y="1437840"/>
              <a:ext cx="442080" cy="442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5087520" y="0"/>
              <a:ext cx="1769400" cy="110556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5" name=""/>
            <p:cNvSpPr/>
            <p:nvPr/>
          </p:nvSpPr>
          <p:spPr>
            <a:xfrm>
              <a:off x="5640480" y="1105920"/>
              <a:ext cx="1216440" cy="5526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6" name=""/>
            <p:cNvSpPr/>
            <p:nvPr/>
          </p:nvSpPr>
          <p:spPr>
            <a:xfrm>
              <a:off x="4202640" y="2101320"/>
              <a:ext cx="3760200" cy="1216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4977000" y="3318120"/>
              <a:ext cx="1769400" cy="1216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7963200" y="1769760"/>
              <a:ext cx="1879920" cy="5526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8848080" y="2322720"/>
              <a:ext cx="1769040" cy="199044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3318120" y="2875680"/>
              <a:ext cx="663120" cy="9950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10396440" y="0"/>
              <a:ext cx="1796040" cy="176940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8184240" y="0"/>
              <a:ext cx="331560" cy="12160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1880280" y="0"/>
              <a:ext cx="220680" cy="110556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0" y="3649680"/>
              <a:ext cx="442080" cy="1326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11612880" y="3096720"/>
              <a:ext cx="442080" cy="18799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10617480" y="2211840"/>
              <a:ext cx="442080" cy="442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24" name=""/>
          <p:cNvSpPr/>
          <p:nvPr/>
        </p:nvSpPr>
        <p:spPr>
          <a:xfrm>
            <a:off x="9144000" y="5225040"/>
            <a:ext cx="360" cy="152388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>
              <a:buNone/>
              <a:defRPr lang="en-US" sz="45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45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ftr" idx="40"/>
          </p:nvPr>
        </p:nvSpPr>
        <p:spPr>
          <a:xfrm>
            <a:off x="9361800" y="531216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1"/>
          </p:nvPr>
        </p:nvSpPr>
        <p:spPr>
          <a:xfrm>
            <a:off x="9361800" y="624816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B55478-6D1C-47E9-B84F-6A2D763571C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dt" idx="42"/>
          </p:nvPr>
        </p:nvSpPr>
        <p:spPr>
          <a:xfrm>
            <a:off x="9361800" y="587808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"/>
          <p:cNvGrpSpPr/>
          <p:nvPr/>
        </p:nvGrpSpPr>
        <p:grpSpPr>
          <a:xfrm>
            <a:off x="0" y="0"/>
            <a:ext cx="12192480" cy="4976640"/>
            <a:chOff x="0" y="0"/>
            <a:chExt cx="12192480" cy="4976640"/>
          </a:xfrm>
        </p:grpSpPr>
        <p:sp>
          <p:nvSpPr>
            <p:cNvPr id="198" name=""/>
            <p:cNvSpPr/>
            <p:nvPr/>
          </p:nvSpPr>
          <p:spPr>
            <a:xfrm>
              <a:off x="0" y="0"/>
              <a:ext cx="12192480" cy="49766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0" y="0"/>
              <a:ext cx="12192480" cy="49766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0" name=""/>
            <p:cNvSpPr/>
            <p:nvPr/>
          </p:nvSpPr>
          <p:spPr>
            <a:xfrm>
              <a:off x="0" y="1548360"/>
              <a:ext cx="1879920" cy="77400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1105920" y="2322720"/>
              <a:ext cx="1548000" cy="2211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2654280" y="663480"/>
              <a:ext cx="1548000" cy="2211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4202640" y="1437840"/>
              <a:ext cx="442080" cy="442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5087520" y="0"/>
              <a:ext cx="1769400" cy="110556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5" name=""/>
            <p:cNvSpPr/>
            <p:nvPr/>
          </p:nvSpPr>
          <p:spPr>
            <a:xfrm>
              <a:off x="5640480" y="1105920"/>
              <a:ext cx="1216440" cy="5526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6" name=""/>
            <p:cNvSpPr/>
            <p:nvPr/>
          </p:nvSpPr>
          <p:spPr>
            <a:xfrm>
              <a:off x="4202640" y="2101320"/>
              <a:ext cx="3760200" cy="1216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4977000" y="3318120"/>
              <a:ext cx="1769400" cy="1216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7963200" y="1769760"/>
              <a:ext cx="1879920" cy="5526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8848080" y="2322720"/>
              <a:ext cx="1769040" cy="199044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3318120" y="2875680"/>
              <a:ext cx="663120" cy="9950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10396440" y="0"/>
              <a:ext cx="1796040" cy="176940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8184240" y="0"/>
              <a:ext cx="331560" cy="12160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1880280" y="0"/>
              <a:ext cx="220680" cy="110556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0" y="3649680"/>
              <a:ext cx="442080" cy="1326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11612880" y="3096720"/>
              <a:ext cx="442080" cy="18799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10617480" y="2211840"/>
              <a:ext cx="442080" cy="4420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17" name=""/>
          <p:cNvSpPr/>
          <p:nvPr/>
        </p:nvSpPr>
        <p:spPr>
          <a:xfrm>
            <a:off x="9144000" y="5225040"/>
            <a:ext cx="360" cy="152388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>
              <a:buNone/>
              <a:defRPr lang="en-US" sz="45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45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ftr" idx="37"/>
          </p:nvPr>
        </p:nvSpPr>
        <p:spPr>
          <a:xfrm>
            <a:off x="9361800" y="531216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38"/>
          </p:nvPr>
        </p:nvSpPr>
        <p:spPr>
          <a:xfrm>
            <a:off x="9361800" y="624816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A44B74-AE1F-4BBA-A6B8-75A51944A19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39"/>
          </p:nvPr>
        </p:nvSpPr>
        <p:spPr>
          <a:xfrm>
            <a:off x="9361800" y="5878080"/>
            <a:ext cx="248148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www.esade.edu/beyond/en/virtual-reality-augmented-reality-education/" TargetMode="External"/><Relationship Id="rId2" Type="http://schemas.openxmlformats.org/officeDocument/2006/relationships/hyperlink" Target="https://luvina.net/ar-and-vr-in-education/" TargetMode="External"/><Relationship Id="rId3" Type="http://schemas.openxmlformats.org/officeDocument/2006/relationships/hyperlink" Target="https://unity.com/resources/rise-of-ar-vr-across-industries" TargetMode="External"/><Relationship Id="rId4" Type="http://schemas.openxmlformats.org/officeDocument/2006/relationships/hyperlink" Target="https://en.wikipedia.org/wiki/Augmented_reality" TargetMode="External"/><Relationship Id="rId5" Type="http://schemas.openxmlformats.org/officeDocument/2006/relationships/hyperlink" Target="https://en.wikipedia.org/wiki/Virtual_reality" TargetMode="External"/><Relationship Id="rId6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rmAutofit fontScale="85000" lnSpcReduction="9999"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Proširena (AR) i virtuelna stvarnost (VR) u obrazovanju i industriji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5487120" y="3201120"/>
            <a:ext cx="28792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9372600" y="5257800"/>
            <a:ext cx="2742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David Katrinka 26123035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>
            <a:lvl1pPr indent="0" algn="r"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Šta je AR (proširena stvarnost)?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56592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Grafički elementi u stvarnom svetu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Postavljanje digitalnih informacija na fizičke objekte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Pomoću pametnih telefona ili tableta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623304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"/>
          <p:cNvPicPr/>
          <p:nvPr/>
        </p:nvPicPr>
        <p:blipFill>
          <a:blip r:embed="rId1"/>
          <a:stretch/>
        </p:blipFill>
        <p:spPr>
          <a:xfrm>
            <a:off x="6172920" y="914400"/>
            <a:ext cx="5396760" cy="311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>
            <a:lvl1pPr indent="0" algn="r">
              <a:buNone/>
              <a:tabLst>
                <a:tab pos="0" algn="l"/>
              </a:tabLst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Šta je VR (virtuelna stvarnost)?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56592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Imerzija korisnika u digitalno okruženje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Rekreiranje vizuelnih, zvučnih i dodirnih iskustava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Nepostojeće stvari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Pomoću VR naočara (uz računar ili konzolu)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"/>
          <p:cNvPicPr/>
          <p:nvPr/>
        </p:nvPicPr>
        <p:blipFill>
          <a:blip r:embed="rId1"/>
          <a:stretch/>
        </p:blipFill>
        <p:spPr>
          <a:xfrm>
            <a:off x="8229600" y="685800"/>
            <a:ext cx="3552480" cy="234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"/>
          <p:cNvPicPr/>
          <p:nvPr/>
        </p:nvPicPr>
        <p:blipFill>
          <a:blip r:embed="rId2"/>
          <a:stretch/>
        </p:blipFill>
        <p:spPr>
          <a:xfrm>
            <a:off x="5942160" y="2743200"/>
            <a:ext cx="3887640" cy="210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525852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lstStyle>
            <a:lvl1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  <a:def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br>
              <a:rPr sz="1000"/>
            </a:b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Razlika između AR i VR</a:t>
            </a:r>
            <a:br>
              <a:rPr sz="4400"/>
            </a:b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56592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Način na kojem interaguju sa okruženjem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Poboljšavanje postojećeg sveta 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Stvaranje potpuno novog sveta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Hardver (telefon/naočare)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"/>
          <p:cNvPicPr/>
          <p:nvPr/>
        </p:nvPicPr>
        <p:blipFill>
          <a:blip r:embed="rId1"/>
          <a:stretch/>
        </p:blipFill>
        <p:spPr>
          <a:xfrm>
            <a:off x="6401520" y="685800"/>
            <a:ext cx="5396760" cy="359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244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 u obrazovanju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57200" y="63144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Interaktivne knjige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3D modeli anatomije i bioliogije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Istorijske rekonstrukcije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Prezentacije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JigSpace, AR Anatomia 4D+, Arloopa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" name=""/>
          <p:cNvPicPr/>
          <p:nvPr/>
        </p:nvPicPr>
        <p:blipFill>
          <a:blip r:embed="rId1"/>
          <a:stretch/>
        </p:blipFill>
        <p:spPr>
          <a:xfrm>
            <a:off x="5715720" y="2286000"/>
            <a:ext cx="3999600" cy="253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"/>
          <p:cNvPicPr/>
          <p:nvPr/>
        </p:nvPicPr>
        <p:blipFill>
          <a:blip r:embed="rId2"/>
          <a:stretch/>
        </p:blipFill>
        <p:spPr>
          <a:xfrm>
            <a:off x="7773840" y="457200"/>
            <a:ext cx="4094640" cy="228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VR u obrazovanju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457200" y="45720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Praktične simulacije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Virtulelne laboratorije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Inženjerske i medicinske procedure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Virtuelna ekskurzija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VirtualSpeech, Bodyswaps, Anatomyou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"/>
          <p:cNvPicPr/>
          <p:nvPr/>
        </p:nvPicPr>
        <p:blipFill>
          <a:blip r:embed="rId1"/>
          <a:stretch/>
        </p:blipFill>
        <p:spPr>
          <a:xfrm>
            <a:off x="5715720" y="457200"/>
            <a:ext cx="4425840" cy="24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"/>
          <p:cNvPicPr/>
          <p:nvPr/>
        </p:nvPicPr>
        <p:blipFill>
          <a:blip r:embed="rId2"/>
          <a:stretch/>
        </p:blipFill>
        <p:spPr>
          <a:xfrm>
            <a:off x="7544520" y="2514600"/>
            <a:ext cx="4190760" cy="201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Benefiti AR i VR u obrazovanju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542880" y="45720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Veća autonomija u učenju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Poboljšanje učinka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Personalizacija učenja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Povećano učešće i motivacija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Obogaćeno iskustvo učenja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Olakšava učenje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"/>
          <p:cNvPicPr/>
          <p:nvPr/>
        </p:nvPicPr>
        <p:blipFill>
          <a:blip r:embed="rId1"/>
          <a:stretch/>
        </p:blipFill>
        <p:spPr>
          <a:xfrm>
            <a:off x="6239880" y="969120"/>
            <a:ext cx="5383800" cy="359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502992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>
            <a:lvl1pPr indent="0" algn="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Prepreke u primeni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56592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Visoki troškovi i ograničena dostupnost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Nedovoljna tehnološka obučenost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Integracija u nastavni plan i program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Privatnost i bezbednost podataka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"/>
          <p:cNvPicPr/>
          <p:nvPr/>
        </p:nvPicPr>
        <p:blipFill>
          <a:blip r:embed="rId1"/>
          <a:stretch/>
        </p:blipFill>
        <p:spPr>
          <a:xfrm>
            <a:off x="6630120" y="1371600"/>
            <a:ext cx="5056560" cy="258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Kako prevazići izazove?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54648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Jeftinija rešenja (Google cardboard)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Obuka predavača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Nastavni plan koji prirodno uključuje AR i VR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Aplikacije koje poštuju bezbednost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Podsticanje kreiranja kvalitetnog edukativnog sadržaja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3" name=""/>
          <p:cNvPicPr/>
          <p:nvPr/>
        </p:nvPicPr>
        <p:blipFill>
          <a:blip r:embed="rId1"/>
          <a:stretch/>
        </p:blipFill>
        <p:spPr>
          <a:xfrm>
            <a:off x="6032880" y="914400"/>
            <a:ext cx="5396760" cy="348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 i VR u industriji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56592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Interaktivna i efikasna rešenja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Dizajn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Obuka zaposlenih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Proizvodnja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Korisničko iskustvo (UX)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"/>
          <p:cNvPicPr/>
          <p:nvPr/>
        </p:nvPicPr>
        <p:blipFill>
          <a:blip r:embed="rId1"/>
          <a:stretch/>
        </p:blipFill>
        <p:spPr>
          <a:xfrm>
            <a:off x="6172920" y="914400"/>
            <a:ext cx="5396760" cy="303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Najznačajnije oblasti primene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56592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Automobilska industrija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Zdravstvo i farmacija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Maloprodaja i moda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Proizvodnja i dizajn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Građevinarstvo i transport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"/>
          <p:cNvPicPr/>
          <p:nvPr/>
        </p:nvPicPr>
        <p:blipFill>
          <a:blip r:embed="rId1"/>
          <a:stretch/>
        </p:blipFill>
        <p:spPr>
          <a:xfrm>
            <a:off x="7811280" y="685800"/>
            <a:ext cx="4075560" cy="227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"/>
          <p:cNvPicPr/>
          <p:nvPr/>
        </p:nvPicPr>
        <p:blipFill>
          <a:blip r:embed="rId2"/>
          <a:stretch/>
        </p:blipFill>
        <p:spPr>
          <a:xfrm>
            <a:off x="5944320" y="2514600"/>
            <a:ext cx="3856680" cy="210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Prednosti primene u industriji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65920" y="565920"/>
            <a:ext cx="53967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Povećana efikasnost rada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Smanjenje troškova razvoja i obuke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Veće angažovanje korisnika i kupaca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Sigurnija obuka u rizičnim okruženjima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"/>
          <p:cNvPicPr/>
          <p:nvPr/>
        </p:nvPicPr>
        <p:blipFill>
          <a:blip r:embed="rId1"/>
          <a:stretch/>
        </p:blipFill>
        <p:spPr>
          <a:xfrm>
            <a:off x="6233400" y="1310040"/>
            <a:ext cx="5396760" cy="290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Hvala na pažnji!</a:t>
            </a:r>
            <a:endParaRPr lang="en-US" sz="4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ubTitle"/>
          </p:nvPr>
        </p:nvSpPr>
        <p:spPr>
          <a:xfrm>
            <a:off x="9145440" y="5029920"/>
            <a:ext cx="2708640" cy="176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marL="432000" indent="0" algn="ctr">
              <a:lnSpc>
                <a:spcPct val="100000"/>
              </a:lnSpc>
              <a:spcBef>
                <a:spcPts val="1712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432000" indent="0" algn="ctr">
              <a:lnSpc>
                <a:spcPct val="100000"/>
              </a:lnSpc>
              <a:spcBef>
                <a:spcPts val="1712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David Katrinka 26123035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35240" y="4976640"/>
            <a:ext cx="8490600" cy="17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>
            <a:lvl1pPr indent="0" algn="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Literatura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565920" y="565920"/>
            <a:ext cx="11059560" cy="439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https://www.esade.edu/beyond/en/virtual-reality-augmented-reality-education/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https://luvina.net/ar-and-vr-in-education/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3"/>
              </a:rPr>
              <a:t>https://unity.com/resources/rise-of-ar-vr-across-industries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4"/>
              </a:rPr>
              <a:t>https://en.wikipedia.org/wiki/Augmented_reality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5"/>
              </a:rPr>
              <a:t>https://en.wikipedia.org/wiki/Virtual_reality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Application>Collabora_Office/25.04.7.2$Linux_X86_64 LibreOffice_project/e8df584b5f86eb5ad5911ecc76fca16e80c8c726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2026-01-08T20:26:56Z</dcterms:modified>
  <cp:revision>44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3</vt:i4>
  </property>
  <property fmtid="{D5CDD505-2E9C-101B-9397-08002B2CF9AE}" pid="4" name="PresentationFormat">
    <vt:lpwstr>On-screen Show (4:3)</vt:lpwstr>
  </property>
  <property fmtid="{D5CDD505-2E9C-101B-9397-08002B2CF9AE}" pid="5" name="Slides">
    <vt:i4>3</vt:i4>
  </property>
</Properties>
</file>