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729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1265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586789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0217936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13803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66700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184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7974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1123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6581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365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51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B3B8E2-3DAA-B917-3B25-6DB16ACFE2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97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6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0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B0C66D-4A59-1ED5-77D5-27860E5FB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093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996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171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FE8F78-3CCF-5B88-0B8E-6B9230EF14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125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54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0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7170AC-A941-94B2-3888-67D7BAAE9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565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49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123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317E1C-CDC6-D84F-ADD4-68F7CCAB73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06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675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127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DDC038-3E0F-0F21-E54B-87E9FFA8E1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697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971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110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5EADE3-C1F9-5ABF-74F2-C038790BB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453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610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54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93343E-4FEF-FC50-B2E7-74EAF3CC46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969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36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503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59AF85-4314-ECBE-56F0-006233050C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820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02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491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1AAAA-88D3-FF4B-3720-E114B1E398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1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284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557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673C64-341C-BB4F-974A-4B89E4DD7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072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7037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512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3BCEAD-B9E1-90B5-58E2-DBB01305CD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230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656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77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3D5E08-11A7-F243-8E6A-735BE9EA33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685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323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62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367370-5D3D-BF31-3BC0-C0B9497333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777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894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871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CFA3DA-34D9-03A3-154B-AE9AFB8567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329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1042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67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C3D35A-B531-4FFD-E2F5-E18609C4CD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074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729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315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5C84C7-B3D6-466F-36F0-01F9D6CC98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230A70-24AC-E080-61DF-C54988998A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36-44C2-26CC-00A2-FD5ACDAB5B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816268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45011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817868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9982562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92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611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973709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96457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1803176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0676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1518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43397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765624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0442663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8400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116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8463146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766367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85774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716369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1888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008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9191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219843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683751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287056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379120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2337555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71128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579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1456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6344301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70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86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6427509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64031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999608" name="Title 1"/>
          <p:cNvSpPr>
            <a:spLocks noGrp="1"/>
          </p:cNvSpPr>
          <p:nvPr>
            <p:ph type="title"/>
          </p:nvPr>
        </p:nvSpPr>
        <p:spPr bwMode="auto">
          <a:xfrm>
            <a:off x="609606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311530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077173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6" y="1435103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902565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1464328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1052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1501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178743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715874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095381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541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88973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009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18167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5608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848520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4446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59548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4917813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9729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258438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54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135203" name="Shape 1058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29417770" name="Shape 1059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75190053" name="Shape 1060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27670416" name="Shape 1061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2098454502" name="Shape 1062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214251871" name="Shape 1063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2019124622" name="Shape 1064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270242323" name="Shape 1065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852202047" name="Shape 1066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69470497" name="Shape 1067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17622459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010464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5924814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49599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  <p:sp>
        <p:nvSpPr>
          <p:cNvPr id="1328047004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n.wikipedia.org/wiki/CryEngine" TargetMode="External"/><Relationship Id="rId4" Type="http://schemas.openxmlformats.org/officeDocument/2006/relationships/hyperlink" Target="https://www.crytek.com/cryengine" TargetMode="External"/><Relationship Id="rId5" Type="http://schemas.openxmlformats.org/officeDocument/2006/relationships/hyperlink" Target="https://store.steampowered.com/app/220980/CRYENGINE/" TargetMode="External"/><Relationship Id="rId6" Type="http://schemas.openxmlformats.org/officeDocument/2006/relationships/hyperlink" Target="https://en.wikipedia.org/wiki/Fox_Engine" TargetMode="External"/><Relationship Id="rId7" Type="http://schemas.openxmlformats.org/officeDocument/2006/relationships/hyperlink" Target="https://metalgear.fandom.com/wiki/Fox_Engine" TargetMode="External"/><Relationship Id="rId8" Type="http://schemas.openxmlformats.org/officeDocument/2006/relationships/hyperlink" Target="https://gamerant.com/konami-scraps-hideo-kojima-fox-engin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5738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800">
                <a:latin typeface="Montserrat"/>
                <a:ea typeface="Montserrat"/>
                <a:cs typeface="Montserrat"/>
              </a:rPr>
              <a:t>Game Engines</a:t>
            </a:r>
            <a:endParaRPr>
              <a:latin typeface="Montserrat"/>
              <a:cs typeface="Montserrat"/>
            </a:endParaRPr>
          </a:p>
        </p:txBody>
      </p:sp>
      <p:sp>
        <p:nvSpPr>
          <p:cNvPr id="21244253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Montserrat"/>
                <a:ea typeface="Montserrat"/>
                <a:cs typeface="Montserrat"/>
              </a:rPr>
              <a:t>Fox Engine i CryEngine</a:t>
            </a:r>
            <a:endParaRPr>
              <a:latin typeface="Montserrat"/>
              <a:cs typeface="Montserrat"/>
            </a:endParaRPr>
          </a:p>
          <a:p>
            <a:pPr>
              <a:defRPr/>
            </a:pPr>
            <a:endParaRPr>
              <a:latin typeface="Montserrat"/>
              <a:cs typeface="Montserrat"/>
            </a:endParaRPr>
          </a:p>
          <a:p>
            <a:pPr>
              <a:defRPr/>
            </a:pPr>
            <a:r>
              <a:rPr lang="en-US" sz="2000">
                <a:latin typeface="Montserrat"/>
                <a:ea typeface="Montserrat"/>
                <a:cs typeface="Montserrat"/>
              </a:rPr>
              <a:t>David Katrinka </a:t>
            </a:r>
            <a:endParaRPr>
              <a:latin typeface="Montserrat"/>
              <a:cs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30532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Fox engine</a:t>
            </a:r>
            <a:br>
              <a:rPr/>
            </a:br>
            <a:r>
              <a:rPr sz="2400"/>
              <a:t>istorija, karakteristike i igre</a:t>
            </a:r>
            <a:endParaRPr/>
          </a:p>
        </p:txBody>
      </p:sp>
      <p:pic>
        <p:nvPicPr>
          <p:cNvPr id="4721548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39258" y="670078"/>
            <a:ext cx="2764512" cy="3514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766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Nastanak Fox engine-a</a:t>
            </a:r>
            <a:endParaRPr/>
          </a:p>
        </p:txBody>
      </p:sp>
      <p:sp>
        <p:nvSpPr>
          <p:cNvPr id="8580462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/>
              <a:t>Konami i Hideo Kojima</a:t>
            </a:r>
            <a:endParaRPr/>
          </a:p>
          <a:p>
            <a:pPr>
              <a:defRPr/>
            </a:pPr>
            <a:r>
              <a:rPr/>
              <a:t>Prikazan prvi put 2012. i prva igra 2014.</a:t>
            </a:r>
            <a:endParaRPr/>
          </a:p>
          <a:p>
            <a:pPr>
              <a:defRPr/>
            </a:pPr>
            <a:r>
              <a:rPr/>
              <a:t>Metal Gear i Pro Evolution </a:t>
            </a:r>
            <a:r>
              <a:rPr lang="sr-Latn"/>
              <a:t>S</a:t>
            </a:r>
            <a:r>
              <a:rPr/>
              <a:t>occer (Fluidity)</a:t>
            </a:r>
            <a:endParaRPr/>
          </a:p>
          <a:p>
            <a:pPr>
              <a:defRPr/>
            </a:pPr>
            <a:r>
              <a:rPr lang="sr-Latn"/>
              <a:t>Igre koje imaju osećaj kao filmovi</a:t>
            </a:r>
            <a:endParaRPr lang="sr-Latn"/>
          </a:p>
          <a:p>
            <a:pPr>
              <a:defRPr/>
            </a:pPr>
            <a:r>
              <a:rPr lang="sr-Latn"/>
              <a:t>Smenjen za Unreal Engine 5</a:t>
            </a:r>
            <a:endParaRPr/>
          </a:p>
        </p:txBody>
      </p:sp>
      <p:pic>
        <p:nvPicPr>
          <p:cNvPr id="9715900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73444" y="1600201"/>
            <a:ext cx="4536489" cy="2835305"/>
          </a:xfrm>
          <a:prstGeom prst="rect">
            <a:avLst/>
          </a:prstGeom>
        </p:spPr>
      </p:pic>
      <p:pic>
        <p:nvPicPr>
          <p:cNvPr id="15086635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58589" y="2837727"/>
            <a:ext cx="3519626" cy="3519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3902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Karakteristike</a:t>
            </a:r>
            <a:endParaRPr/>
          </a:p>
        </p:txBody>
      </p:sp>
      <p:sp>
        <p:nvSpPr>
          <p:cNvPr id="1946551361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09599" y="1600201"/>
            <a:ext cx="6780157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r-Latn"/>
              <a:t>Kamera sistem – realistična vizualizacija</a:t>
            </a:r>
            <a:endParaRPr lang="sr-Latn"/>
          </a:p>
          <a:p>
            <a:pPr>
              <a:defRPr/>
            </a:pPr>
            <a:r>
              <a:rPr lang="sr-Latn"/>
              <a:t>Capture tehnologija – fotografisanje stvarnih objekata</a:t>
            </a:r>
            <a:endParaRPr lang="sr-Latn"/>
          </a:p>
          <a:p>
            <a:pPr>
              <a:defRPr/>
            </a:pPr>
            <a:r>
              <a:rPr lang="sr-Latn"/>
              <a:t>Deffered rendering – odloženo renderovanje</a:t>
            </a:r>
            <a:endParaRPr lang="sr-Latn"/>
          </a:p>
          <a:p>
            <a:pPr>
              <a:defRPr/>
            </a:pPr>
            <a:r>
              <a:rPr lang="sr-Latn"/>
              <a:t>Osvetljenje – reagovanje svetla sa različitim materijalima</a:t>
            </a:r>
            <a:endParaRPr/>
          </a:p>
        </p:txBody>
      </p:sp>
      <p:pic>
        <p:nvPicPr>
          <p:cNvPr id="16381813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20946" y="1340897"/>
            <a:ext cx="3273639" cy="4536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0649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Karakteristike </a:t>
            </a:r>
            <a:r>
              <a:rPr lang="sr-Latn"/>
              <a:t>– Sistem Materijala</a:t>
            </a:r>
            <a:endParaRPr/>
          </a:p>
        </p:txBody>
      </p:sp>
      <p:sp>
        <p:nvSpPr>
          <p:cNvPr id="365170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Svetlo i vremenski odnosi</a:t>
            </a:r>
            <a:endParaRPr lang="sr-Latn"/>
          </a:p>
          <a:p>
            <a:pPr>
              <a:defRPr/>
            </a:pPr>
            <a:r>
              <a:rPr lang="sr-Latn"/>
              <a:t>Gruboća površine</a:t>
            </a:r>
            <a:endParaRPr lang="sr-Latn"/>
          </a:p>
          <a:p>
            <a:pPr>
              <a:defRPr/>
            </a:pPr>
            <a:r>
              <a:rPr lang="sr-Latn"/>
              <a:t>Refleksivnost zavisi od ugla gledanja</a:t>
            </a:r>
            <a:endParaRPr lang="sr-Latn"/>
          </a:p>
          <a:p>
            <a:pPr>
              <a:defRPr/>
            </a:pPr>
            <a:r>
              <a:rPr lang="sr-Latn"/>
              <a:t>Physically Based Rendering (PBR)</a:t>
            </a:r>
            <a:endParaRPr lang="sr-Latn"/>
          </a:p>
          <a:p>
            <a:pPr>
              <a:defRPr/>
            </a:pPr>
            <a:r>
              <a:rPr lang="sr-Latn"/>
              <a:t>Shader-i i mapiranje tekstura</a:t>
            </a:r>
            <a:endParaRPr/>
          </a:p>
        </p:txBody>
      </p:sp>
      <p:pic>
        <p:nvPicPr>
          <p:cNvPr id="13664033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85407" y="1428750"/>
            <a:ext cx="5333999" cy="400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6866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Karakteristike</a:t>
            </a:r>
            <a:endParaRPr/>
          </a:p>
        </p:txBody>
      </p:sp>
      <p:sp>
        <p:nvSpPr>
          <p:cNvPr id="439994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Kreiranje i upravljanje asset-ima</a:t>
            </a:r>
            <a:endParaRPr lang="sr-Latn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sr-Latn"/>
              <a:t>Alati za razvoj:</a:t>
            </a:r>
            <a:endParaRPr lang="sr-Latn"/>
          </a:p>
          <a:p>
            <a:pPr lvl="1">
              <a:defRPr/>
            </a:pPr>
            <a:r>
              <a:rPr lang="sr-Latn"/>
              <a:t>Level editor</a:t>
            </a:r>
            <a:endParaRPr lang="sr-Latn"/>
          </a:p>
          <a:p>
            <a:pPr lvl="1">
              <a:defRPr/>
            </a:pPr>
            <a:r>
              <a:rPr lang="sr-Latn"/>
              <a:t>Animation editor</a:t>
            </a:r>
            <a:endParaRPr lang="sr-Latn"/>
          </a:p>
          <a:p>
            <a:pPr lvl="1">
              <a:defRPr/>
            </a:pPr>
            <a:r>
              <a:rPr lang="sr-Latn"/>
              <a:t>Cutscene editor</a:t>
            </a:r>
            <a:endParaRPr lang="sr-Latn"/>
          </a:p>
          <a:p>
            <a:pPr lvl="1">
              <a:defRPr/>
            </a:pPr>
            <a:r>
              <a:rPr lang="sr-Latn"/>
              <a:t>FX editor</a:t>
            </a:r>
            <a:endParaRPr lang="sr-Latn"/>
          </a:p>
          <a:p>
            <a:pPr lvl="1">
              <a:defRPr/>
            </a:pPr>
            <a:r>
              <a:rPr lang="sr-Latn"/>
              <a:t>UI editor</a:t>
            </a:r>
            <a:endParaRPr lang="sr-Latn"/>
          </a:p>
        </p:txBody>
      </p:sp>
      <p:pic>
        <p:nvPicPr>
          <p:cNvPr id="2778706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30075" y="1417638"/>
            <a:ext cx="4106533" cy="3076681"/>
          </a:xfrm>
          <a:prstGeom prst="rect">
            <a:avLst/>
          </a:prstGeom>
        </p:spPr>
      </p:pic>
      <p:pic>
        <p:nvPicPr>
          <p:cNvPr id="10088042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98376" y="3753558"/>
            <a:ext cx="5358946" cy="27018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4834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274638"/>
            <a:ext cx="10972800" cy="996403"/>
          </a:xfrm>
        </p:spPr>
        <p:txBody>
          <a:bodyPr/>
          <a:lstStyle/>
          <a:p>
            <a:pPr>
              <a:defRPr/>
            </a:pPr>
            <a:r>
              <a:rPr lang="sr-Latn"/>
              <a:t>IGRE</a:t>
            </a:r>
            <a:endParaRPr/>
          </a:p>
        </p:txBody>
      </p:sp>
      <p:pic>
        <p:nvPicPr>
          <p:cNvPr id="10441617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7727" y="1187814"/>
            <a:ext cx="4918805" cy="2780504"/>
          </a:xfrm>
          <a:prstGeom prst="rect">
            <a:avLst/>
          </a:prstGeom>
        </p:spPr>
      </p:pic>
      <p:pic>
        <p:nvPicPr>
          <p:cNvPr id="13555962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88475" y="1187814"/>
            <a:ext cx="4943119" cy="2780504"/>
          </a:xfrm>
          <a:prstGeom prst="rect">
            <a:avLst/>
          </a:prstGeom>
        </p:spPr>
      </p:pic>
      <p:pic>
        <p:nvPicPr>
          <p:cNvPr id="151957412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636596" y="4051547"/>
            <a:ext cx="4918805" cy="2766828"/>
          </a:xfrm>
          <a:prstGeom prst="rect">
            <a:avLst/>
          </a:prstGeom>
        </p:spPr>
      </p:pic>
      <p:sp>
        <p:nvSpPr>
          <p:cNvPr id="215111988" name=""/>
          <p:cNvSpPr txBox="1"/>
          <p:nvPr/>
        </p:nvSpPr>
        <p:spPr bwMode="auto">
          <a:xfrm rot="0" flipH="0" flipV="0">
            <a:off x="454077" y="4051546"/>
            <a:ext cx="30544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Metal Gear Solid V</a:t>
            </a:r>
            <a:r>
              <a:rPr lang="sr-Latn"/>
              <a:t> (2015)</a:t>
            </a:r>
            <a:endParaRPr/>
          </a:p>
        </p:txBody>
      </p:sp>
      <p:sp>
        <p:nvSpPr>
          <p:cNvPr id="743324273" name=""/>
          <p:cNvSpPr txBox="1"/>
          <p:nvPr/>
        </p:nvSpPr>
        <p:spPr bwMode="auto">
          <a:xfrm rot="0" flipH="0" flipV="0">
            <a:off x="9162468" y="4051546"/>
            <a:ext cx="196912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P.T. demo</a:t>
            </a:r>
            <a:r>
              <a:rPr lang="sr-Latn"/>
              <a:t> (2014)</a:t>
            </a:r>
            <a:endParaRPr/>
          </a:p>
        </p:txBody>
      </p:sp>
      <p:sp>
        <p:nvSpPr>
          <p:cNvPr id="1750756241" name=""/>
          <p:cNvSpPr txBox="1"/>
          <p:nvPr/>
        </p:nvSpPr>
        <p:spPr bwMode="auto">
          <a:xfrm rot="0" flipH="0" flipV="0">
            <a:off x="8604549" y="5742742"/>
            <a:ext cx="22245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Pro Evolution Soccer 2019 (2018)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484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Fox Engine - zaključak</a:t>
            </a:r>
            <a:endParaRPr/>
          </a:p>
        </p:txBody>
      </p:sp>
      <p:sp>
        <p:nvSpPr>
          <p:cNvPr id="39194936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Veliki potencijal</a:t>
            </a:r>
            <a:endParaRPr lang="sr-Latn"/>
          </a:p>
          <a:p>
            <a:pPr>
              <a:defRPr/>
            </a:pPr>
            <a:r>
              <a:rPr lang="sr-Latn"/>
              <a:t>Raspad odnosa između Konami-ja i Hideo Kojime</a:t>
            </a:r>
            <a:endParaRPr lang="sr-Latn"/>
          </a:p>
          <a:p>
            <a:pPr>
              <a:defRPr/>
            </a:pPr>
            <a:r>
              <a:rPr lang="sr-Latn"/>
              <a:t>Konkurencija sa Unreal Engine</a:t>
            </a:r>
            <a:endParaRPr/>
          </a:p>
        </p:txBody>
      </p:sp>
      <p:pic>
        <p:nvPicPr>
          <p:cNvPr id="4002278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95254" y="2145436"/>
            <a:ext cx="5287145" cy="29740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57438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sr-Latn"/>
              <a:t>Cryengine</a:t>
            </a:r>
            <a:br>
              <a:rPr lang="sr-Latn"/>
            </a:br>
            <a:r>
              <a:rPr lang="sr-Latn" sz="2400"/>
              <a:t>Istorija, karakteristike i igre</a:t>
            </a:r>
            <a:endParaRPr/>
          </a:p>
        </p:txBody>
      </p:sp>
      <p:pic>
        <p:nvPicPr>
          <p:cNvPr id="18383453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7417" y="569973"/>
            <a:ext cx="6229350" cy="2962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5345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Nastanak CryEngine-a</a:t>
            </a:r>
            <a:endParaRPr/>
          </a:p>
        </p:txBody>
      </p:sp>
      <p:sp>
        <p:nvSpPr>
          <p:cNvPr id="15970315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Razvijen od kompanije CryTek, 2002. godine</a:t>
            </a:r>
            <a:endParaRPr lang="sr-Latn"/>
          </a:p>
          <a:p>
            <a:pPr>
              <a:defRPr/>
            </a:pPr>
            <a:r>
              <a:rPr lang="sr-Latn"/>
              <a:t>Nvidia tech demo</a:t>
            </a:r>
            <a:endParaRPr lang="sr-Latn"/>
          </a:p>
          <a:p>
            <a:pPr>
              <a:defRPr/>
            </a:pPr>
            <a:r>
              <a:rPr lang="sr-Latn"/>
              <a:t>C, C++ i Lua</a:t>
            </a:r>
            <a:endParaRPr lang="sr-Latn"/>
          </a:p>
          <a:p>
            <a:pPr>
              <a:defRPr/>
            </a:pPr>
            <a:r>
              <a:rPr lang="sr-Latn" i="1"/>
              <a:t>Besplatna</a:t>
            </a:r>
            <a:r>
              <a:rPr lang="sr-Latn"/>
              <a:t> verzija - “Pay what you want” i 5% zarade od igre</a:t>
            </a:r>
            <a:endParaRPr lang="sr-Latn"/>
          </a:p>
          <a:p>
            <a:pPr>
              <a:defRPr/>
            </a:pPr>
            <a:r>
              <a:rPr lang="sr-Latn"/>
              <a:t>Far Cry i Dunia engine</a:t>
            </a:r>
            <a:endParaRPr/>
          </a:p>
        </p:txBody>
      </p:sp>
      <p:pic>
        <p:nvPicPr>
          <p:cNvPr id="18352182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72747" y="2088101"/>
            <a:ext cx="4543196" cy="2415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2400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Verzije CryEngine-a</a:t>
            </a:r>
            <a:endParaRPr/>
          </a:p>
        </p:txBody>
      </p:sp>
      <p:sp>
        <p:nvSpPr>
          <p:cNvPr id="19564512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/>
          </a:p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CryEngine 2 je prvi put korišćen u igri Crysis</a:t>
            </a:r>
            <a:endParaRPr lang="sr-Latn"/>
          </a:p>
          <a:p>
            <a:pPr>
              <a:defRPr/>
            </a:pPr>
            <a:r>
              <a:rPr lang="sr-Latn"/>
              <a:t>Korist u arhitekturi i edukaciji</a:t>
            </a:r>
            <a:endParaRPr/>
          </a:p>
          <a:p>
            <a:pPr>
              <a:defRPr/>
            </a:pPr>
            <a:r>
              <a:rPr lang="sr-Latn"/>
              <a:t>Crysis 2 sa CryEngine 3</a:t>
            </a:r>
            <a:endParaRPr lang="sr-Latn"/>
          </a:p>
          <a:p>
            <a:pPr>
              <a:defRPr/>
            </a:pPr>
            <a:r>
              <a:rPr lang="sr-Latn"/>
              <a:t>Simulator za Ministarstvno Zaštite </a:t>
            </a:r>
            <a:endParaRPr/>
          </a:p>
        </p:txBody>
      </p:sp>
      <p:pic>
        <p:nvPicPr>
          <p:cNvPr id="10768250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604616" y="2153389"/>
            <a:ext cx="4573868" cy="2988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439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Verzije CryEngine-a</a:t>
            </a:r>
            <a:endParaRPr/>
          </a:p>
        </p:txBody>
      </p:sp>
      <p:sp>
        <p:nvSpPr>
          <p:cNvPr id="1563435691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CryEngine (4) - rebrandiranje, “nema sličnosti sa prošlim verzijama”</a:t>
            </a:r>
            <a:endParaRPr lang="sr-Latn"/>
          </a:p>
          <a:p>
            <a:pPr>
              <a:defRPr/>
            </a:pPr>
            <a:r>
              <a:rPr lang="sr-Latn"/>
              <a:t>CryEngine V –</a:t>
            </a:r>
            <a:r>
              <a:rPr lang="sr-Latn"/>
              <a:t> početak “pay what you want” sistema i otkrivanje izvornog koda</a:t>
            </a:r>
            <a:endParaRPr lang="sr-Latn"/>
          </a:p>
          <a:p>
            <a:pPr>
              <a:defRPr/>
            </a:pPr>
            <a:r>
              <a:rPr lang="sr-Latn"/>
              <a:t>Posle izlaska verzije 5.7 u 2022. Crytek je počeo sa stvaranjem nove</a:t>
            </a:r>
            <a:r>
              <a:rPr lang="sr-Latn"/>
              <a:t> glvane verzije.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6324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Funkcije</a:t>
            </a:r>
            <a:endParaRPr/>
          </a:p>
        </p:txBody>
      </p:sp>
      <p:sp>
        <p:nvSpPr>
          <p:cNvPr id="10974885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r-Latn"/>
              <a:t>Realistična grafika i osvetljenje</a:t>
            </a:r>
            <a:endParaRPr lang="sr-Latn"/>
          </a:p>
          <a:p>
            <a:pPr lvl="1">
              <a:defRPr/>
            </a:pPr>
            <a:r>
              <a:rPr lang="sr-Latn"/>
              <a:t>Dinamično osvetljenje</a:t>
            </a:r>
            <a:endParaRPr lang="sr-Latn"/>
          </a:p>
          <a:p>
            <a:pPr lvl="1">
              <a:defRPr/>
            </a:pPr>
            <a:r>
              <a:rPr lang="sr-Latn"/>
              <a:t>Dinamično doba dana</a:t>
            </a:r>
            <a:endParaRPr lang="sr-Latn"/>
          </a:p>
          <a:p>
            <a:pPr>
              <a:defRPr/>
            </a:pPr>
            <a:r>
              <a:rPr lang="sr-Latn"/>
              <a:t>Realistična animacija i fizika</a:t>
            </a:r>
            <a:endParaRPr/>
          </a:p>
          <a:p>
            <a:pPr lvl="1">
              <a:defRPr/>
            </a:pPr>
            <a:r>
              <a:rPr lang="sr-Latn"/>
              <a:t>Svet koji reaguje i može da se menja</a:t>
            </a:r>
            <a:endParaRPr lang="sr-Latn"/>
          </a:p>
          <a:p>
            <a:pPr>
              <a:defRPr/>
            </a:pPr>
            <a:r>
              <a:rPr lang="sr-Latn"/>
              <a:t>Pametna veštačka inteligencija</a:t>
            </a:r>
            <a:endParaRPr lang="sr-Latn"/>
          </a:p>
          <a:p>
            <a:pPr lvl="1">
              <a:defRPr/>
            </a:pPr>
            <a:r>
              <a:rPr lang="sr-Latn"/>
              <a:t>Pronalaženje puta i navigaciona mreža</a:t>
            </a:r>
            <a:endParaRPr/>
          </a:p>
        </p:txBody>
      </p:sp>
      <p:pic>
        <p:nvPicPr>
          <p:cNvPr id="19670405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30621" y="1861521"/>
            <a:ext cx="5351778" cy="3344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1136718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1629991" y="870815"/>
            <a:ext cx="8932016" cy="5116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9013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Funkcije</a:t>
            </a:r>
            <a:endParaRPr/>
          </a:p>
        </p:txBody>
      </p:sp>
      <p:sp>
        <p:nvSpPr>
          <p:cNvPr id="9518395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sr-Latn"/>
              <a:t>Alati za kreiranje sveta</a:t>
            </a:r>
            <a:endParaRPr lang="sr-Latn"/>
          </a:p>
          <a:p>
            <a:pPr lvl="1">
              <a:defRPr/>
            </a:pPr>
            <a:r>
              <a:rPr lang="sr-Latn"/>
              <a:t>Proceduralna generacija</a:t>
            </a:r>
            <a:endParaRPr lang="sr-Latn"/>
          </a:p>
          <a:p>
            <a:pPr lvl="1">
              <a:defRPr/>
            </a:pPr>
            <a:r>
              <a:rPr lang="sr-Latn"/>
              <a:t>Putevi i reke</a:t>
            </a:r>
            <a:endParaRPr lang="sr-Latn"/>
          </a:p>
          <a:p>
            <a:pPr>
              <a:defRPr/>
            </a:pPr>
            <a:r>
              <a:rPr lang="sr-Latn"/>
              <a:t>Alati za developer-e</a:t>
            </a:r>
            <a:endParaRPr lang="sr-Latn"/>
          </a:p>
          <a:p>
            <a:pPr lvl="1">
              <a:defRPr/>
            </a:pPr>
            <a:r>
              <a:rPr lang="sr-Latn"/>
              <a:t>Sanbox editor u realnom vremenu</a:t>
            </a:r>
            <a:endParaRPr lang="sr-Latn"/>
          </a:p>
          <a:p>
            <a:pPr lvl="1">
              <a:defRPr/>
            </a:pPr>
            <a:r>
              <a:rPr lang="sr-Latn"/>
              <a:t>Flow graph</a:t>
            </a:r>
            <a:endParaRPr lang="sr-Latn"/>
          </a:p>
          <a:p>
            <a:pPr>
              <a:defRPr/>
            </a:pPr>
            <a:r>
              <a:rPr lang="sr-Latn"/>
              <a:t>Upečatljiv zvuk</a:t>
            </a:r>
            <a:endParaRPr lang="sr-Latn"/>
          </a:p>
          <a:p>
            <a:pPr lvl="1">
              <a:defRPr/>
            </a:pPr>
            <a:r>
              <a:rPr lang="sr-Latn"/>
              <a:t>Dinamički i prostorni zvukovi</a:t>
            </a:r>
            <a:endParaRPr lang="sr-Latn"/>
          </a:p>
        </p:txBody>
      </p:sp>
      <p:pic>
        <p:nvPicPr>
          <p:cNvPr id="14838819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37448" y="1550956"/>
            <a:ext cx="6414445" cy="3608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321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Razvoj u CryEngine-u</a:t>
            </a:r>
            <a:endParaRPr/>
          </a:p>
        </p:txBody>
      </p:sp>
      <p:sp>
        <p:nvSpPr>
          <p:cNvPr id="4239509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endParaRPr lang="sr-Latn"/>
          </a:p>
          <a:p>
            <a:pPr>
              <a:defRPr/>
            </a:pPr>
            <a:r>
              <a:rPr lang="sr-Latn"/>
              <a:t>CryEngine SDK</a:t>
            </a:r>
            <a:endParaRPr lang="sr-Latn"/>
          </a:p>
          <a:p>
            <a:pPr>
              <a:defRPr/>
            </a:pPr>
            <a:r>
              <a:rPr lang="sr-Latn"/>
              <a:t>Mod-ovi za igre stvorene u CryEngine</a:t>
            </a:r>
            <a:endParaRPr lang="sr-Latn"/>
          </a:p>
          <a:p>
            <a:pPr>
              <a:defRPr/>
            </a:pPr>
            <a:r>
              <a:rPr lang="sr-Latn"/>
              <a:t>Aditivan model dodavanja objekata</a:t>
            </a:r>
            <a:endParaRPr lang="sr-Latn"/>
          </a:p>
          <a:p>
            <a:pPr>
              <a:defRPr/>
            </a:pPr>
            <a:r>
              <a:rPr lang="sr-Latn"/>
              <a:t>“What you see is  what you play”</a:t>
            </a:r>
            <a:endParaRPr/>
          </a:p>
        </p:txBody>
      </p:sp>
      <p:pic>
        <p:nvPicPr>
          <p:cNvPr id="8893594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77004" y="1814907"/>
            <a:ext cx="6079376" cy="3413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18407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8" y="274637"/>
            <a:ext cx="10972800" cy="770337"/>
          </a:xfrm>
        </p:spPr>
        <p:txBody>
          <a:bodyPr/>
          <a:lstStyle/>
          <a:p>
            <a:pPr>
              <a:defRPr/>
            </a:pPr>
            <a:r>
              <a:rPr lang="sr-Latn"/>
              <a:t>Igre</a:t>
            </a:r>
            <a:endParaRPr/>
          </a:p>
        </p:txBody>
      </p:sp>
      <p:pic>
        <p:nvPicPr>
          <p:cNvPr id="7008530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03840" y="4039794"/>
            <a:ext cx="4584316" cy="2578678"/>
          </a:xfrm>
          <a:prstGeom prst="rect">
            <a:avLst/>
          </a:prstGeom>
        </p:spPr>
      </p:pic>
      <p:pic>
        <p:nvPicPr>
          <p:cNvPr id="103402855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230954" y="1163799"/>
            <a:ext cx="4586715" cy="2580027"/>
          </a:xfrm>
          <a:prstGeom prst="rect">
            <a:avLst/>
          </a:prstGeom>
        </p:spPr>
      </p:pic>
      <p:pic>
        <p:nvPicPr>
          <p:cNvPr id="80219798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401156" y="1163799"/>
            <a:ext cx="4584316" cy="2578678"/>
          </a:xfrm>
          <a:prstGeom prst="rect">
            <a:avLst/>
          </a:prstGeom>
        </p:spPr>
      </p:pic>
      <p:sp>
        <p:nvSpPr>
          <p:cNvPr id="1260568172" name=""/>
          <p:cNvSpPr txBox="1"/>
          <p:nvPr/>
        </p:nvSpPr>
        <p:spPr bwMode="auto">
          <a:xfrm rot="0" flipH="0" flipV="0">
            <a:off x="1230954" y="3809999"/>
            <a:ext cx="17443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Far Cry (2004)</a:t>
            </a:r>
            <a:endParaRPr/>
          </a:p>
        </p:txBody>
      </p:sp>
      <p:sp>
        <p:nvSpPr>
          <p:cNvPr id="409839056" name=""/>
          <p:cNvSpPr txBox="1"/>
          <p:nvPr/>
        </p:nvSpPr>
        <p:spPr bwMode="auto">
          <a:xfrm rot="0" flipH="0" flipV="0">
            <a:off x="8968782" y="3856734"/>
            <a:ext cx="20166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Crysis 3 (2013)</a:t>
            </a:r>
            <a:endParaRPr/>
          </a:p>
        </p:txBody>
      </p:sp>
      <p:sp>
        <p:nvSpPr>
          <p:cNvPr id="1780621527" name=""/>
          <p:cNvSpPr txBox="1"/>
          <p:nvPr/>
        </p:nvSpPr>
        <p:spPr bwMode="auto">
          <a:xfrm rot="0" flipH="0" flipV="0">
            <a:off x="8388157" y="5761237"/>
            <a:ext cx="182249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Kingdom Come Deliverance II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542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CryEngine - zaključak</a:t>
            </a:r>
            <a:endParaRPr/>
          </a:p>
        </p:txBody>
      </p:sp>
      <p:sp>
        <p:nvSpPr>
          <p:cNvPr id="1340039126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Kompleksniji za učenje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Manja zajednica i sporije usvajanje</a:t>
            </a:r>
            <a:endParaRPr/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Stabilan za AAA projekte</a:t>
            </a:r>
            <a:endParaRPr/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Nakon verzije 5.7 počinje razvoj nove generacije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Potencijal povratka u fokus uz modernizaciju alata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116655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198" cy="1470024"/>
          </a:xfrm>
        </p:spPr>
        <p:txBody>
          <a:bodyPr/>
          <a:lstStyle/>
          <a:p>
            <a:pPr>
              <a:defRPr/>
            </a:pPr>
            <a:r>
              <a:rPr lang="sr-Latn"/>
              <a:t>KRAJ!</a:t>
            </a:r>
            <a:endParaRPr/>
          </a:p>
        </p:txBody>
      </p:sp>
      <p:sp>
        <p:nvSpPr>
          <p:cNvPr id="4045713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8" cy="17525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3978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IZVORI</a:t>
            </a:r>
            <a:endParaRPr/>
          </a:p>
        </p:txBody>
      </p:sp>
      <p:sp>
        <p:nvSpPr>
          <p:cNvPr id="45558552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sr-Latn"/>
              <a:t>CryEngine</a:t>
            </a:r>
            <a:endParaRPr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https://en.wikipedia.org/wiki/CryEngine</a:t>
            </a:r>
            <a:endParaRPr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https://www.crytek.com/cryengine</a:t>
            </a:r>
            <a:endParaRPr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"/>
              </a:rPr>
              <a:t>https://store.steampowered.com/app/220980/CRYENGINE/</a:t>
            </a: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"/>
              </a:rPr>
              <a:t> </a:t>
            </a:r>
            <a:endParaRPr/>
          </a:p>
          <a:p>
            <a:pPr>
              <a:defRPr/>
            </a:pPr>
            <a:r>
              <a:rPr lang="sr-Latn"/>
              <a:t>Fox Engine</a:t>
            </a:r>
            <a:endParaRPr lang="sr-Latn"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"/>
              </a:rPr>
              <a:t>https://en.wikipedia.org/wiki/Fox_Engine</a:t>
            </a:r>
            <a:endParaRPr sz="3200"/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7" tooltip=""/>
              </a:rPr>
              <a:t>https://metalgear.fandom.com/wiki/Fox_Engine</a:t>
            </a:r>
            <a:endParaRPr lang="sr-Latn"/>
          </a:p>
          <a:p>
            <a:pPr>
              <a:defRPr/>
            </a:pPr>
            <a:r>
              <a:rPr lang="sr-Latn" sz="30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8" tooltip=""/>
              </a:rPr>
              <a:t>https://gamerant.com/konami-scraps-hideo-kojima-fox-engine/</a:t>
            </a:r>
            <a:endParaRPr lang="sr-Latn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2025-11-15T20:45:40Z</dcterms:modified>
</cp:coreProperties>
</file>