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1" d="100"/>
          <a:sy n="81" d="100"/>
        </p:scale>
        <p:origin x="754" y="53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0639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3926709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694998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2743032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33746350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166515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840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1231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22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F63AA7-D36E-2375-F018-B0BF7421C9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9987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9512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307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6E759-48DA-6F44-D2D2-DB94FF21C0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845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03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6485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B5A65A-9EFC-E6B0-3F05-F92711859B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506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9535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14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7BC3A-B3E3-F6E8-467C-12E106B6C6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279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9849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293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8F4F9B-3397-415F-1FD8-EE83F2DCBF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539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771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735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F1318E-C2B1-95DE-CA30-F90C381609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534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6386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119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13850-CC8D-4711-5FA6-EA1B4758C2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298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7646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7076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E98478-1C42-2B78-7730-687976C290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0919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0989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939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4D74D5-53C5-E857-9DEE-29DAFD7FDC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215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017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366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0EAF96-82C5-0338-3DF8-C76821A9C9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206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2609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236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56BB66-CAA5-3E93-D98D-E3BDF1A7D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2724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6067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462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4F0CFD-6B45-CD9F-565B-F733D6CDDE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9133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498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71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119F74-DAC5-A65E-C1D7-9D94740F24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11009817" name="Picture 6" descr="Celestia-R1---OverlayTitle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38151609" name="Title 1"/>
          <p:cNvSpPr>
            <a:spLocks noGrp="1"/>
          </p:cNvSpPr>
          <p:nvPr>
            <p:ph type="ctrTitle"/>
          </p:nvPr>
        </p:nvSpPr>
        <p:spPr bwMode="auto"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52639936" name="Subtitle 2"/>
          <p:cNvSpPr>
            <a:spLocks noGrp="1"/>
          </p:cNvSpPr>
          <p:nvPr>
            <p:ph type="subTitle" idx="1"/>
          </p:nvPr>
        </p:nvSpPr>
        <p:spPr bwMode="auto"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99719348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932558" y="5870575"/>
            <a:ext cx="1600200" cy="377825"/>
          </a:xfrm>
        </p:spPr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4343236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962399" y="5870575"/>
            <a:ext cx="4893958" cy="3778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088758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608958" y="5870575"/>
            <a:ext cx="551167" cy="377825"/>
          </a:xfrm>
        </p:spPr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7832928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484561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78554532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56773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586300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5312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4067301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73724768" name="Title 1"/>
          <p:cNvSpPr>
            <a:spLocks noGrp="1"/>
          </p:cNvSpPr>
          <p:nvPr>
            <p:ph type="title"/>
          </p:nvPr>
        </p:nvSpPr>
        <p:spPr bwMode="auto"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422956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5301108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506013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9977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8884179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6040089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210512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9186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21895" y="2142067"/>
            <a:ext cx="4995332" cy="36491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378328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6772792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20157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0304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2374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651884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5953070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96003" y="2226734"/>
            <a:ext cx="4722812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018606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367282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86181680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28001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9380276" name="Picture 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905234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241991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5405366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541127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1438406" name="Picture 4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2209736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55343240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676825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8626043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042917995" name="Title 1"/>
          <p:cNvSpPr>
            <a:spLocks noGrp="1"/>
          </p:cNvSpPr>
          <p:nvPr>
            <p:ph type="title"/>
          </p:nvPr>
        </p:nvSpPr>
        <p:spPr bwMode="auto"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1163179" name="Content Placeholder 2"/>
          <p:cNvSpPr>
            <a:spLocks noGrp="1"/>
          </p:cNvSpPr>
          <p:nvPr>
            <p:ph idx="1"/>
          </p:nvPr>
        </p:nvSpPr>
        <p:spPr bwMode="auto"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479897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976630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762306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38608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7891233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667287877" name="Title 1"/>
          <p:cNvSpPr>
            <a:spLocks noGrp="1"/>
          </p:cNvSpPr>
          <p:nvPr>
            <p:ph type="title"/>
          </p:nvPr>
        </p:nvSpPr>
        <p:spPr bwMode="auto"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429272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23040683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73373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3458340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2981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noramic 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96280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75874829" name="Title 1"/>
          <p:cNvSpPr>
            <a:spLocks noGrp="1"/>
          </p:cNvSpPr>
          <p:nvPr>
            <p:ph type="title"/>
          </p:nvPr>
        </p:nvSpPr>
        <p:spPr bwMode="auto"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6876960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444655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5299602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75996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483972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028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2572050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30807153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39529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56551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3531229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779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7190540" name="Picture 15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509245396" name="TextBox 14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875016451" name="TextBox 10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62607813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4068872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91797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80639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2104082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32417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2359738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07119097" name="Title 1"/>
          <p:cNvSpPr>
            <a:spLocks noGrp="1"/>
          </p:cNvSpPr>
          <p:nvPr>
            <p:ph type="title"/>
          </p:nvPr>
        </p:nvSpPr>
        <p:spPr bwMode="auto"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87647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20069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7285229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14473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0241673" name="Picture 10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676893273" name="TextBox 12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437387692" name="TextBox 13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437973797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6766144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92674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39362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20132214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68134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299349" name="Picture 7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614597198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6557942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1" y="3505199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47385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323874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9981138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7062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425261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79934685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01329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77205894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78149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  <p:sp>
        <p:nvSpPr>
          <p:cNvPr id="866290408" name="Title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3540944" name="Picture 6" descr="Celestia-R1---OverlayContentH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94255256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58675" y="609599"/>
            <a:ext cx="2158552" cy="5181601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9993789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836919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1876036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85424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737638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09477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2142067"/>
            <a:ext cx="10131425" cy="3649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947614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09C494A6-017D-4700-9DCE-E6EBBC7BB54B}" type="datetimeFigureOut">
              <a:rPr lang="en-US"/>
              <a:t>12/16/2025</a:t>
            </a:fld>
            <a:endParaRPr lang="en-US"/>
          </a:p>
        </p:txBody>
      </p:sp>
      <p:sp>
        <p:nvSpPr>
          <p:cNvPr id="36685339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4679246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EB52C20-7E54-478F-BEDD-306C18E61126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661436" name="Title 3"/>
          <p:cNvSpPr>
            <a:spLocks noGrp="1"/>
          </p:cNvSpPr>
          <p:nvPr>
            <p:ph type="title"/>
          </p:nvPr>
        </p:nvSpPr>
        <p:spPr bwMode="auto">
          <a:xfrm>
            <a:off x="838200" y="2766218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sr-Latn"/>
              <a:t>Gallery app</a:t>
            </a:r>
            <a:endParaRPr lang="en-US"/>
          </a:p>
        </p:txBody>
      </p:sp>
      <p:sp>
        <p:nvSpPr>
          <p:cNvPr id="1249301815" name=""/>
          <p:cNvSpPr txBox="1"/>
          <p:nvPr/>
        </p:nvSpPr>
        <p:spPr bwMode="auto">
          <a:xfrm rot="0" flipH="0" flipV="0">
            <a:off x="4511332" y="3784896"/>
            <a:ext cx="3170054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sr-Latn" sz="2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Iteracija 2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2280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Sadržaj</a:t>
            </a:r>
            <a:endParaRPr lang="en-US"/>
          </a:p>
        </p:txBody>
      </p:sp>
      <p:sp>
        <p:nvSpPr>
          <p:cNvPr id="3117522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/>
              <a:t>Ukratko šta je urađeno u prošlim sprintovima</a:t>
            </a:r>
            <a:endParaRPr sz="2000"/>
          </a:p>
          <a:p>
            <a:pPr>
              <a:defRPr/>
            </a:pPr>
            <a:r>
              <a:rPr lang="sr-Latn" sz="2000"/>
              <a:t>Šta je odrađeno u ovom sprintu</a:t>
            </a:r>
            <a:endParaRPr sz="2000"/>
          </a:p>
          <a:p>
            <a:pPr>
              <a:defRPr/>
            </a:pPr>
            <a:r>
              <a:rPr lang="sr-Latn-RS" sz="2000"/>
              <a:t>Šta je sledeće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0156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Članovi razvojnog tima</a:t>
            </a:r>
            <a:endParaRPr/>
          </a:p>
        </p:txBody>
      </p:sp>
      <p:sp>
        <p:nvSpPr>
          <p:cNvPr id="2125768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/>
              <a:t>Daniel Štifelmajer – android aplikacija (java)</a:t>
            </a:r>
            <a:endParaRPr lang="sr-Latn" sz="2000"/>
          </a:p>
          <a:p>
            <a:pPr>
              <a:defRPr/>
            </a:pPr>
            <a:r>
              <a:rPr lang="sr-Latn" sz="2000"/>
              <a:t>Sara Klipa – android aplikacija (xml)</a:t>
            </a:r>
            <a:endParaRPr lang="sr-Latn" sz="2000"/>
          </a:p>
          <a:p>
            <a:pPr>
              <a:defRPr/>
            </a:pPr>
            <a:r>
              <a:rPr lang="sr-Latn" sz="2000"/>
              <a:t>Stepan Turicin — backend</a:t>
            </a:r>
            <a:r>
              <a:rPr lang="sr-Latn" sz="2000"/>
              <a:t> (django)</a:t>
            </a:r>
            <a:endParaRPr lang="sr-Latn" sz="2000"/>
          </a:p>
          <a:p>
            <a:pPr>
              <a:defRPr/>
            </a:pPr>
            <a:r>
              <a:rPr lang="sr-Latn" sz="2000"/>
              <a:t>David Katrinka — web frontend za admin korisnika i profesore</a:t>
            </a:r>
            <a:r>
              <a:rPr lang="sr-Latn" sz="2000"/>
              <a:t> (react.js)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7268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"/>
              <a:t>Prošli sprint</a:t>
            </a:r>
            <a:r>
              <a:rPr lang="sr-Latn-RS"/>
              <a:t>	</a:t>
            </a:r>
            <a:endParaRPr lang="en-US"/>
          </a:p>
        </p:txBody>
      </p:sp>
      <p:sp>
        <p:nvSpPr>
          <p:cNvPr id="55596624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Registracija korisnika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Login korisnika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Osnovni prikaz sadržaja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Osnovna admin funkcionalnost</a:t>
            </a:r>
            <a:endParaRPr lang="sr-Latn-R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-R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Minimalna navigacija</a:t>
            </a:r>
            <a:endParaRPr sz="2000"/>
          </a:p>
          <a:p>
            <a:pPr>
              <a:defRPr/>
            </a:pPr>
            <a:endParaRPr lang="en-US"/>
          </a:p>
        </p:txBody>
      </p:sp>
      <p:pic>
        <p:nvPicPr>
          <p:cNvPr id="1454230929" name="Picture 2" descr="A screenshot of a login screen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034984" y="337704"/>
            <a:ext cx="1564483" cy="3296590"/>
          </a:xfrm>
          <a:prstGeom prst="rect">
            <a:avLst/>
          </a:prstGeom>
        </p:spPr>
      </p:pic>
      <p:pic>
        <p:nvPicPr>
          <p:cNvPr id="2017014167" name="Picture 2" descr="A screenshot of a computer screen&#10;&#10;AI-generated content may be incorrect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40533" y="309571"/>
            <a:ext cx="1442474" cy="3512591"/>
          </a:xfrm>
          <a:prstGeom prst="rect">
            <a:avLst/>
          </a:prstGeom>
        </p:spPr>
      </p:pic>
      <p:pic>
        <p:nvPicPr>
          <p:cNvPr id="76921191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880593" y="4109580"/>
            <a:ext cx="4162354" cy="1807244"/>
          </a:xfrm>
          <a:prstGeom prst="rect">
            <a:avLst/>
          </a:prstGeom>
        </p:spPr>
      </p:pic>
      <p:pic>
        <p:nvPicPr>
          <p:cNvPr id="1275695942" name="Picture 3" descr="A screenshot of a post&#10;&#10;AI-generated content may be incorrect.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6250882" y="723420"/>
            <a:ext cx="1509833" cy="27055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22994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Trenutn</a:t>
            </a:r>
            <a:r>
              <a:rPr lang="sr-Latn"/>
              <a:t>i sprint</a:t>
            </a:r>
            <a:endParaRPr lang="en-US"/>
          </a:p>
        </p:txBody>
      </p:sp>
      <p:sp>
        <p:nvSpPr>
          <p:cNvPr id="202706863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Backend 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CRUD funkcionalnostima za sadržaj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Slanju i dohvatanju multimedijalnog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Filtriranju i sortiranju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Admin upravljanju statusom sadržaja (pending, public)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Pin/unpin funkcionalnosti sadržaja</a:t>
            </a:r>
            <a:endParaRPr lang="en-US" sz="18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Vizuelnom unapređenju timeline-a i sistema ocenjivanja</a:t>
            </a:r>
            <a:endParaRPr lang="en-US"/>
          </a:p>
        </p:txBody>
      </p:sp>
      <p:pic>
        <p:nvPicPr>
          <p:cNvPr id="16055650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713737" y="990599"/>
            <a:ext cx="4876799" cy="48767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4314399" name="Title 1"/>
          <p:cNvSpPr>
            <a:spLocks noGrp="1"/>
          </p:cNvSpPr>
          <p:nvPr>
            <p:ph type="title"/>
          </p:nvPr>
        </p:nvSpPr>
        <p:spPr bwMode="auto">
          <a:xfrm>
            <a:off x="685800" y="327398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BAckend</a:t>
            </a:r>
            <a:endParaRPr/>
          </a:p>
        </p:txBody>
      </p:sp>
      <p:sp>
        <p:nvSpPr>
          <p:cNvPr id="634923791" name=""/>
          <p:cNvSpPr txBox="1"/>
          <p:nvPr/>
        </p:nvSpPr>
        <p:spPr bwMode="auto">
          <a:xfrm rot="0" flipH="0" flipV="0">
            <a:off x="685800" y="2953335"/>
            <a:ext cx="2446353" cy="243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Ažuriranje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Postavljanje</a:t>
            </a:r>
            <a:endParaRPr lang="sr-Latn" sz="2200"/>
          </a:p>
          <a:p>
            <a:pPr marL="305908" indent="-305908">
              <a:buFont typeface="Arial"/>
              <a:buChar char="•"/>
              <a:defRPr/>
            </a:pPr>
            <a:r>
              <a:rPr lang="sr-Latn" sz="2200"/>
              <a:t>Dobijanje</a:t>
            </a:r>
            <a:endParaRPr lang="sr-Latn" sz="2200"/>
          </a:p>
          <a:p>
            <a:pPr marL="305907" indent="-305907">
              <a:buFont typeface="Arial"/>
              <a:buChar char="•"/>
              <a:defRPr/>
            </a:pPr>
            <a:r>
              <a:rPr lang="sr-Latn" sz="2200"/>
              <a:t>Brisanje</a:t>
            </a:r>
            <a:endParaRPr lang="sr-Latn" sz="2200"/>
          </a:p>
          <a:p>
            <a:pPr marL="305907" indent="-305907">
              <a:buFont typeface="Arial"/>
              <a:buChar char="•"/>
              <a:defRPr/>
            </a:pPr>
            <a:r>
              <a:rPr lang="sr-Latn" sz="2200"/>
              <a:t>Za admina ili profesora i za obične korisnike</a:t>
            </a:r>
            <a:endParaRPr/>
          </a:p>
        </p:txBody>
      </p:sp>
      <p:pic>
        <p:nvPicPr>
          <p:cNvPr id="17295595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16747" y="2315940"/>
            <a:ext cx="8333150" cy="33352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728358" name=""/>
          <p:cNvSpPr txBox="1"/>
          <p:nvPr/>
        </p:nvSpPr>
        <p:spPr bwMode="auto">
          <a:xfrm rot="0" flipH="0" flipV="0">
            <a:off x="2090896" y="2384456"/>
            <a:ext cx="244997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Sadržaj i filtriranje</a:t>
            </a:r>
            <a:endParaRPr/>
          </a:p>
        </p:txBody>
      </p:sp>
      <p:pic>
        <p:nvPicPr>
          <p:cNvPr id="13249289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43687" y="85619"/>
            <a:ext cx="3419499" cy="6686760"/>
          </a:xfrm>
          <a:prstGeom prst="rect">
            <a:avLst/>
          </a:prstGeom>
        </p:spPr>
      </p:pic>
      <p:pic>
        <p:nvPicPr>
          <p:cNvPr id="9962960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208317" y="33981"/>
            <a:ext cx="3472313" cy="6790037"/>
          </a:xfrm>
          <a:prstGeom prst="rect">
            <a:avLst/>
          </a:prstGeom>
        </p:spPr>
      </p:pic>
      <p:sp>
        <p:nvSpPr>
          <p:cNvPr id="915374556" name=""/>
          <p:cNvSpPr txBox="1"/>
          <p:nvPr/>
        </p:nvSpPr>
        <p:spPr bwMode="auto">
          <a:xfrm rot="0" flipH="0" flipV="0">
            <a:off x="2063155" y="3708276"/>
            <a:ext cx="246813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/>
              <a:t>Dizajn i implementacija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074749" name=""/>
          <p:cNvSpPr txBox="1"/>
          <p:nvPr/>
        </p:nvSpPr>
        <p:spPr bwMode="auto">
          <a:xfrm rot="0" flipH="0" flipV="0">
            <a:off x="2553275" y="2384457"/>
            <a:ext cx="2445295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Forma za postavljanje sadržaja</a:t>
            </a:r>
            <a:endParaRPr/>
          </a:p>
        </p:txBody>
      </p:sp>
      <p:pic>
        <p:nvPicPr>
          <p:cNvPr id="14226870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531166" y="109950"/>
            <a:ext cx="3328429" cy="6508675"/>
          </a:xfrm>
          <a:prstGeom prst="rect">
            <a:avLst/>
          </a:prstGeom>
        </p:spPr>
      </p:pic>
      <p:sp>
        <p:nvSpPr>
          <p:cNvPr id="327678394" name=""/>
          <p:cNvSpPr txBox="1"/>
          <p:nvPr/>
        </p:nvSpPr>
        <p:spPr bwMode="auto">
          <a:xfrm rot="0" flipH="0" flipV="0">
            <a:off x="2553275" y="4179902"/>
            <a:ext cx="246849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/>
              <a:t>Dizajn i implementacija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237077" name=""/>
          <p:cNvSpPr txBox="1"/>
          <p:nvPr/>
        </p:nvSpPr>
        <p:spPr bwMode="auto">
          <a:xfrm rot="0" flipH="0" flipV="0">
            <a:off x="1019400" y="2978996"/>
            <a:ext cx="243953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CRUD za indekse</a:t>
            </a:r>
            <a:endParaRPr/>
          </a:p>
        </p:txBody>
      </p:sp>
      <p:pic>
        <p:nvPicPr>
          <p:cNvPr id="20335768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214826" y="769937"/>
            <a:ext cx="6731798" cy="3568318"/>
          </a:xfrm>
          <a:prstGeom prst="rect">
            <a:avLst/>
          </a:prstGeom>
        </p:spPr>
      </p:pic>
      <p:pic>
        <p:nvPicPr>
          <p:cNvPr id="167946835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976937" y="4670816"/>
            <a:ext cx="2985312" cy="1791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604011" name=""/>
          <p:cNvSpPr txBox="1"/>
          <p:nvPr/>
        </p:nvSpPr>
        <p:spPr bwMode="auto">
          <a:xfrm rot="0" flipH="0" flipV="0">
            <a:off x="1019400" y="2978996"/>
            <a:ext cx="2442774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sr-Latn" sz="3600"/>
              <a:t>CRUD za korisnike</a:t>
            </a:r>
            <a:endParaRPr/>
          </a:p>
        </p:txBody>
      </p:sp>
      <p:pic>
        <p:nvPicPr>
          <p:cNvPr id="17348968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183875" y="523764"/>
            <a:ext cx="7085787" cy="3771041"/>
          </a:xfrm>
          <a:prstGeom prst="rect">
            <a:avLst/>
          </a:prstGeom>
        </p:spPr>
      </p:pic>
      <p:pic>
        <p:nvPicPr>
          <p:cNvPr id="166667345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930404" y="4429014"/>
            <a:ext cx="2700843" cy="1936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906743" name="Title 1"/>
          <p:cNvSpPr>
            <a:spLocks noGrp="1"/>
          </p:cNvSpPr>
          <p:nvPr>
            <p:ph type="title"/>
          </p:nvPr>
        </p:nvSpPr>
        <p:spPr bwMode="auto">
          <a:xfrm>
            <a:off x="1233487" y="424647"/>
            <a:ext cx="10131424" cy="1456266"/>
          </a:xfrm>
        </p:spPr>
        <p:txBody>
          <a:bodyPr/>
          <a:lstStyle/>
          <a:p>
            <a:pPr>
              <a:defRPr/>
            </a:pPr>
            <a:r>
              <a:rPr lang="sr-Latn"/>
              <a:t>Pinovanje i promena statusa sadržaja</a:t>
            </a:r>
            <a:endParaRPr/>
          </a:p>
        </p:txBody>
      </p:sp>
      <p:pic>
        <p:nvPicPr>
          <p:cNvPr id="13417081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500312" y="2762249"/>
            <a:ext cx="6372225" cy="1333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1940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sr-Latn-RS"/>
              <a:t>Šta je sledeće?</a:t>
            </a:r>
            <a:endParaRPr lang="en-US"/>
          </a:p>
        </p:txBody>
      </p:sp>
      <p:sp>
        <p:nvSpPr>
          <p:cNvPr id="21924882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sr-Latn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Omogućavanje ocenjivanja sadržaja od strane korisnika</a:t>
            </a:r>
            <a:endParaRPr lang="sr-Latn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Prikaz prosečne i korisničke ocene za svaki sadržaj</a:t>
            </a:r>
            <a:endParaRPr lang="sr-Latn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Završetak admin funkcionalnosti za upravljanje sadržajem i kategorijama</a:t>
            </a:r>
            <a:endParaRPr lang="sr-Latn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sr-Latn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Vizuelno finalizovanje aplikacije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328983" name="Title 1"/>
          <p:cNvSpPr>
            <a:spLocks noGrp="1"/>
          </p:cNvSpPr>
          <p:nvPr>
            <p:ph type="ctrTitle"/>
          </p:nvPr>
        </p:nvSpPr>
        <p:spPr bwMode="auto">
          <a:xfrm>
            <a:off x="3962398" y="1964266"/>
            <a:ext cx="7197725" cy="2421463"/>
          </a:xfrm>
        </p:spPr>
        <p:txBody>
          <a:bodyPr/>
          <a:lstStyle>
            <a:lvl1pPr algn="r">
              <a:defRPr sz="4800"/>
            </a:lvl1pPr>
          </a:lstStyle>
          <a:p>
            <a:pPr>
              <a:defRPr/>
            </a:pPr>
            <a:r>
              <a:rPr lang="sr-Latn"/>
              <a:t>Hvala na pažnji!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 rotWithShape="1">
          <a:blip r:embed="rId1"/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 rotWithShape="1">
          <a:blip r:embed="rId1"/>
          <a:stretch/>
        </a:blip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0</Words>
  <Application>ONLYOFFICE/9.2.1.43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danielstifelmajer@gmail.com</dc:creator>
  <cp:lastModifiedBy/>
  <cp:revision>6</cp:revision>
  <dcterms:created xsi:type="dcterms:W3CDTF">2025-12-16T17:30:50Z</dcterms:created>
  <dcterms:modified xsi:type="dcterms:W3CDTF">2026-01-17T15:59:34Z</dcterms:modified>
</cp:coreProperties>
</file>